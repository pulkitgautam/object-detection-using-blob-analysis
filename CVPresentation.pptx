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0" r:id="rId4"/>
    <p:sldId id="267" r:id="rId5"/>
    <p:sldId id="268" r:id="rId6"/>
    <p:sldId id="269" r:id="rId7"/>
    <p:sldId id="261" r:id="rId8"/>
    <p:sldId id="270" r:id="rId9"/>
    <p:sldId id="276" r:id="rId10"/>
    <p:sldId id="274" r:id="rId11"/>
    <p:sldId id="277" r:id="rId12"/>
    <p:sldId id="278" r:id="rId13"/>
    <p:sldId id="275" r:id="rId14"/>
    <p:sldId id="281" r:id="rId15"/>
    <p:sldId id="280" r:id="rId16"/>
    <p:sldId id="282" r:id="rId17"/>
    <p:sldId id="272" r:id="rId18"/>
    <p:sldId id="283" r:id="rId19"/>
    <p:sldId id="284" r:id="rId20"/>
    <p:sldId id="28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41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1330" y="4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823686-020E-49B9-9661-66823809B18A}" type="doc">
      <dgm:prSet loTypeId="urn:microsoft.com/office/officeart/2005/8/layout/process1" loCatId="process" qsTypeId="urn:microsoft.com/office/officeart/2005/8/quickstyle/simple1" qsCatId="simple" csTypeId="urn:microsoft.com/office/officeart/2005/8/colors/accent1_2" csCatId="accent1" phldr="1"/>
      <dgm:spPr/>
    </dgm:pt>
    <dgm:pt modelId="{5618634F-4505-41FA-BAF5-773F3B8E083E}">
      <dgm:prSet phldrT="[Text]"/>
      <dgm:spPr/>
      <dgm:t>
        <a:bodyPr/>
        <a:lstStyle/>
        <a:p>
          <a:r>
            <a:rPr lang="en-US" dirty="0"/>
            <a:t>Image Preprocessing</a:t>
          </a:r>
          <a:endParaRPr lang="en-IN" dirty="0"/>
        </a:p>
      </dgm:t>
    </dgm:pt>
    <dgm:pt modelId="{09B924AE-7573-456E-8EAF-0800DF996044}" type="parTrans" cxnId="{EADF1713-42D5-4195-9579-A30899D22955}">
      <dgm:prSet/>
      <dgm:spPr/>
      <dgm:t>
        <a:bodyPr/>
        <a:lstStyle/>
        <a:p>
          <a:endParaRPr lang="en-IN"/>
        </a:p>
      </dgm:t>
    </dgm:pt>
    <dgm:pt modelId="{0F049756-30FA-4992-A20C-3C2C3B9F7E43}" type="sibTrans" cxnId="{EADF1713-42D5-4195-9579-A30899D22955}">
      <dgm:prSet/>
      <dgm:spPr/>
      <dgm:t>
        <a:bodyPr/>
        <a:lstStyle/>
        <a:p>
          <a:endParaRPr lang="en-IN"/>
        </a:p>
      </dgm:t>
    </dgm:pt>
    <dgm:pt modelId="{DC3EF5F4-D22D-471B-8225-B1D3471F9690}">
      <dgm:prSet phldrT="[Text]"/>
      <dgm:spPr/>
      <dgm:t>
        <a:bodyPr/>
        <a:lstStyle/>
        <a:p>
          <a:r>
            <a:rPr lang="en-US" dirty="0"/>
            <a:t>Color Processing</a:t>
          </a:r>
          <a:endParaRPr lang="en-IN" dirty="0"/>
        </a:p>
      </dgm:t>
    </dgm:pt>
    <dgm:pt modelId="{7FB8C5F7-4FB6-4017-AE90-1DF1DD9F0CD9}" type="parTrans" cxnId="{3857A8CC-9614-4371-A941-FBCEE2354910}">
      <dgm:prSet/>
      <dgm:spPr/>
      <dgm:t>
        <a:bodyPr/>
        <a:lstStyle/>
        <a:p>
          <a:endParaRPr lang="en-IN"/>
        </a:p>
      </dgm:t>
    </dgm:pt>
    <dgm:pt modelId="{259A460D-5000-42A1-9149-1FEC5E23851D}" type="sibTrans" cxnId="{3857A8CC-9614-4371-A941-FBCEE2354910}">
      <dgm:prSet/>
      <dgm:spPr/>
      <dgm:t>
        <a:bodyPr/>
        <a:lstStyle/>
        <a:p>
          <a:endParaRPr lang="en-IN"/>
        </a:p>
      </dgm:t>
    </dgm:pt>
    <dgm:pt modelId="{5144800E-3778-4FD9-BB48-619BBD1CDE9B}">
      <dgm:prSet phldrT="[Text]"/>
      <dgm:spPr/>
      <dgm:t>
        <a:bodyPr/>
        <a:lstStyle/>
        <a:p>
          <a:r>
            <a:rPr lang="en-US" dirty="0"/>
            <a:t>Grayscaling, Filtering &amp; Enhancing</a:t>
          </a:r>
          <a:endParaRPr lang="en-IN" dirty="0"/>
        </a:p>
      </dgm:t>
    </dgm:pt>
    <dgm:pt modelId="{FC50D1F6-4083-490A-BEC9-C419D55AA3AC}" type="parTrans" cxnId="{A5FAF4B8-D347-4564-944C-CD373983B4B3}">
      <dgm:prSet/>
      <dgm:spPr/>
      <dgm:t>
        <a:bodyPr/>
        <a:lstStyle/>
        <a:p>
          <a:endParaRPr lang="en-IN"/>
        </a:p>
      </dgm:t>
    </dgm:pt>
    <dgm:pt modelId="{BFC04B90-0440-4EB7-B7F0-758E0E3C8900}" type="sibTrans" cxnId="{A5FAF4B8-D347-4564-944C-CD373983B4B3}">
      <dgm:prSet/>
      <dgm:spPr/>
      <dgm:t>
        <a:bodyPr/>
        <a:lstStyle/>
        <a:p>
          <a:endParaRPr lang="en-IN"/>
        </a:p>
      </dgm:t>
    </dgm:pt>
    <dgm:pt modelId="{392A91AC-836F-485C-B25E-8D32ECD6FB93}">
      <dgm:prSet phldrT="[Text]"/>
      <dgm:spPr/>
      <dgm:t>
        <a:bodyPr/>
        <a:lstStyle/>
        <a:p>
          <a:r>
            <a:rPr lang="en-US" dirty="0"/>
            <a:t>Blob Analysis &amp; Object Counting</a:t>
          </a:r>
          <a:endParaRPr lang="en-IN" dirty="0"/>
        </a:p>
      </dgm:t>
    </dgm:pt>
    <dgm:pt modelId="{2440B53E-6DEB-4B6D-9802-7A428C944164}" type="parTrans" cxnId="{4D6A181C-09D2-4998-80C5-2E7C48C3F256}">
      <dgm:prSet/>
      <dgm:spPr/>
      <dgm:t>
        <a:bodyPr/>
        <a:lstStyle/>
        <a:p>
          <a:endParaRPr lang="en-IN"/>
        </a:p>
      </dgm:t>
    </dgm:pt>
    <dgm:pt modelId="{7158A058-1467-4D19-8800-269063D9E45F}" type="sibTrans" cxnId="{4D6A181C-09D2-4998-80C5-2E7C48C3F256}">
      <dgm:prSet/>
      <dgm:spPr/>
      <dgm:t>
        <a:bodyPr/>
        <a:lstStyle/>
        <a:p>
          <a:endParaRPr lang="en-IN"/>
        </a:p>
      </dgm:t>
    </dgm:pt>
    <dgm:pt modelId="{685DB7CD-6521-4842-AFC5-25AF8C642180}" type="pres">
      <dgm:prSet presAssocID="{5B823686-020E-49B9-9661-66823809B18A}" presName="Name0" presStyleCnt="0">
        <dgm:presLayoutVars>
          <dgm:dir/>
          <dgm:resizeHandles val="exact"/>
        </dgm:presLayoutVars>
      </dgm:prSet>
      <dgm:spPr/>
    </dgm:pt>
    <dgm:pt modelId="{012F72E1-A15D-460B-B084-2A549E7EE8BA}" type="pres">
      <dgm:prSet presAssocID="{5618634F-4505-41FA-BAF5-773F3B8E083E}" presName="node" presStyleLbl="node1" presStyleIdx="0" presStyleCnt="4" custLinFactNeighborY="0">
        <dgm:presLayoutVars>
          <dgm:bulletEnabled val="1"/>
        </dgm:presLayoutVars>
      </dgm:prSet>
      <dgm:spPr/>
    </dgm:pt>
    <dgm:pt modelId="{B54EC7C0-BC39-4F12-A846-881157F1FD6B}" type="pres">
      <dgm:prSet presAssocID="{0F049756-30FA-4992-A20C-3C2C3B9F7E43}" presName="sibTrans" presStyleLbl="sibTrans2D1" presStyleIdx="0" presStyleCnt="3"/>
      <dgm:spPr/>
    </dgm:pt>
    <dgm:pt modelId="{D81D2703-C8F3-4239-800F-31876BE42219}" type="pres">
      <dgm:prSet presAssocID="{0F049756-30FA-4992-A20C-3C2C3B9F7E43}" presName="connectorText" presStyleLbl="sibTrans2D1" presStyleIdx="0" presStyleCnt="3"/>
      <dgm:spPr/>
    </dgm:pt>
    <dgm:pt modelId="{49B89A8F-BA7F-45CD-AAEA-FAC101E32685}" type="pres">
      <dgm:prSet presAssocID="{DC3EF5F4-D22D-471B-8225-B1D3471F9690}" presName="node" presStyleLbl="node1" presStyleIdx="1" presStyleCnt="4">
        <dgm:presLayoutVars>
          <dgm:bulletEnabled val="1"/>
        </dgm:presLayoutVars>
      </dgm:prSet>
      <dgm:spPr/>
    </dgm:pt>
    <dgm:pt modelId="{A92D3F44-8F09-47E8-8680-C703062828A3}" type="pres">
      <dgm:prSet presAssocID="{259A460D-5000-42A1-9149-1FEC5E23851D}" presName="sibTrans" presStyleLbl="sibTrans2D1" presStyleIdx="1" presStyleCnt="3"/>
      <dgm:spPr/>
    </dgm:pt>
    <dgm:pt modelId="{39491F31-9DA9-4E92-BB97-B5F3A187049F}" type="pres">
      <dgm:prSet presAssocID="{259A460D-5000-42A1-9149-1FEC5E23851D}" presName="connectorText" presStyleLbl="sibTrans2D1" presStyleIdx="1" presStyleCnt="3"/>
      <dgm:spPr/>
    </dgm:pt>
    <dgm:pt modelId="{F7718E32-40BE-470E-8116-3C05DC054B60}" type="pres">
      <dgm:prSet presAssocID="{5144800E-3778-4FD9-BB48-619BBD1CDE9B}" presName="node" presStyleLbl="node1" presStyleIdx="2" presStyleCnt="4">
        <dgm:presLayoutVars>
          <dgm:bulletEnabled val="1"/>
        </dgm:presLayoutVars>
      </dgm:prSet>
      <dgm:spPr/>
    </dgm:pt>
    <dgm:pt modelId="{4F04FD12-CE3B-4FFA-B620-3ABC53AB72EE}" type="pres">
      <dgm:prSet presAssocID="{BFC04B90-0440-4EB7-B7F0-758E0E3C8900}" presName="sibTrans" presStyleLbl="sibTrans2D1" presStyleIdx="2" presStyleCnt="3"/>
      <dgm:spPr/>
    </dgm:pt>
    <dgm:pt modelId="{7ED77E31-3715-49FC-9F94-5B648FCC78E5}" type="pres">
      <dgm:prSet presAssocID="{BFC04B90-0440-4EB7-B7F0-758E0E3C8900}" presName="connectorText" presStyleLbl="sibTrans2D1" presStyleIdx="2" presStyleCnt="3"/>
      <dgm:spPr/>
    </dgm:pt>
    <dgm:pt modelId="{F23E8D47-E793-4F1B-8038-E73F3EEFFFDF}" type="pres">
      <dgm:prSet presAssocID="{392A91AC-836F-485C-B25E-8D32ECD6FB93}" presName="node" presStyleLbl="node1" presStyleIdx="3" presStyleCnt="4">
        <dgm:presLayoutVars>
          <dgm:bulletEnabled val="1"/>
        </dgm:presLayoutVars>
      </dgm:prSet>
      <dgm:spPr/>
    </dgm:pt>
  </dgm:ptLst>
  <dgm:cxnLst>
    <dgm:cxn modelId="{924BF60D-DBA7-4884-83F7-70D0A731A057}" type="presOf" srcId="{259A460D-5000-42A1-9149-1FEC5E23851D}" destId="{39491F31-9DA9-4E92-BB97-B5F3A187049F}" srcOrd="1" destOrd="0" presId="urn:microsoft.com/office/officeart/2005/8/layout/process1"/>
    <dgm:cxn modelId="{B4B76310-6AA1-41C2-86FF-6095FBFD8A9E}" type="presOf" srcId="{5618634F-4505-41FA-BAF5-773F3B8E083E}" destId="{012F72E1-A15D-460B-B084-2A549E7EE8BA}" srcOrd="0" destOrd="0" presId="urn:microsoft.com/office/officeart/2005/8/layout/process1"/>
    <dgm:cxn modelId="{EADF1713-42D5-4195-9579-A30899D22955}" srcId="{5B823686-020E-49B9-9661-66823809B18A}" destId="{5618634F-4505-41FA-BAF5-773F3B8E083E}" srcOrd="0" destOrd="0" parTransId="{09B924AE-7573-456E-8EAF-0800DF996044}" sibTransId="{0F049756-30FA-4992-A20C-3C2C3B9F7E43}"/>
    <dgm:cxn modelId="{4D6A181C-09D2-4998-80C5-2E7C48C3F256}" srcId="{5B823686-020E-49B9-9661-66823809B18A}" destId="{392A91AC-836F-485C-B25E-8D32ECD6FB93}" srcOrd="3" destOrd="0" parTransId="{2440B53E-6DEB-4B6D-9802-7A428C944164}" sibTransId="{7158A058-1467-4D19-8800-269063D9E45F}"/>
    <dgm:cxn modelId="{E7FDAD22-02CF-4F83-8970-49639BF07DD2}" type="presOf" srcId="{259A460D-5000-42A1-9149-1FEC5E23851D}" destId="{A92D3F44-8F09-47E8-8680-C703062828A3}" srcOrd="0" destOrd="0" presId="urn:microsoft.com/office/officeart/2005/8/layout/process1"/>
    <dgm:cxn modelId="{9E03C675-B2DE-49D5-8648-E2B18C77B2A4}" type="presOf" srcId="{BFC04B90-0440-4EB7-B7F0-758E0E3C8900}" destId="{7ED77E31-3715-49FC-9F94-5B648FCC78E5}" srcOrd="1" destOrd="0" presId="urn:microsoft.com/office/officeart/2005/8/layout/process1"/>
    <dgm:cxn modelId="{7E9D0683-FF60-4804-BC9F-D838761057EE}" type="presOf" srcId="{DC3EF5F4-D22D-471B-8225-B1D3471F9690}" destId="{49B89A8F-BA7F-45CD-AAEA-FAC101E32685}" srcOrd="0" destOrd="0" presId="urn:microsoft.com/office/officeart/2005/8/layout/process1"/>
    <dgm:cxn modelId="{11D78087-D6D8-489E-9E9B-F21C12E4A70A}" type="presOf" srcId="{5144800E-3778-4FD9-BB48-619BBD1CDE9B}" destId="{F7718E32-40BE-470E-8116-3C05DC054B60}" srcOrd="0" destOrd="0" presId="urn:microsoft.com/office/officeart/2005/8/layout/process1"/>
    <dgm:cxn modelId="{22108D96-43EB-4D20-82F3-A229CB92ABA3}" type="presOf" srcId="{BFC04B90-0440-4EB7-B7F0-758E0E3C8900}" destId="{4F04FD12-CE3B-4FFA-B620-3ABC53AB72EE}" srcOrd="0" destOrd="0" presId="urn:microsoft.com/office/officeart/2005/8/layout/process1"/>
    <dgm:cxn modelId="{8EB491AB-4DE5-4A5D-B8E9-05994D8CAB52}" type="presOf" srcId="{392A91AC-836F-485C-B25E-8D32ECD6FB93}" destId="{F23E8D47-E793-4F1B-8038-E73F3EEFFFDF}" srcOrd="0" destOrd="0" presId="urn:microsoft.com/office/officeart/2005/8/layout/process1"/>
    <dgm:cxn modelId="{8305D3B3-E6D5-4263-8D23-B5E7073FBBFB}" type="presOf" srcId="{0F049756-30FA-4992-A20C-3C2C3B9F7E43}" destId="{D81D2703-C8F3-4239-800F-31876BE42219}" srcOrd="1" destOrd="0" presId="urn:microsoft.com/office/officeart/2005/8/layout/process1"/>
    <dgm:cxn modelId="{2A9FC5B7-8545-4099-8A1D-7CC26FCFF9AA}" type="presOf" srcId="{0F049756-30FA-4992-A20C-3C2C3B9F7E43}" destId="{B54EC7C0-BC39-4F12-A846-881157F1FD6B}" srcOrd="0" destOrd="0" presId="urn:microsoft.com/office/officeart/2005/8/layout/process1"/>
    <dgm:cxn modelId="{A5FAF4B8-D347-4564-944C-CD373983B4B3}" srcId="{5B823686-020E-49B9-9661-66823809B18A}" destId="{5144800E-3778-4FD9-BB48-619BBD1CDE9B}" srcOrd="2" destOrd="0" parTransId="{FC50D1F6-4083-490A-BEC9-C419D55AA3AC}" sibTransId="{BFC04B90-0440-4EB7-B7F0-758E0E3C8900}"/>
    <dgm:cxn modelId="{3857A8CC-9614-4371-A941-FBCEE2354910}" srcId="{5B823686-020E-49B9-9661-66823809B18A}" destId="{DC3EF5F4-D22D-471B-8225-B1D3471F9690}" srcOrd="1" destOrd="0" parTransId="{7FB8C5F7-4FB6-4017-AE90-1DF1DD9F0CD9}" sibTransId="{259A460D-5000-42A1-9149-1FEC5E23851D}"/>
    <dgm:cxn modelId="{884E09CD-3EDF-4438-BDE2-E5B6C984E978}" type="presOf" srcId="{5B823686-020E-49B9-9661-66823809B18A}" destId="{685DB7CD-6521-4842-AFC5-25AF8C642180}" srcOrd="0" destOrd="0" presId="urn:microsoft.com/office/officeart/2005/8/layout/process1"/>
    <dgm:cxn modelId="{6586606A-B5FE-4C0C-9EF6-BB2802FCF7D5}" type="presParOf" srcId="{685DB7CD-6521-4842-AFC5-25AF8C642180}" destId="{012F72E1-A15D-460B-B084-2A549E7EE8BA}" srcOrd="0" destOrd="0" presId="urn:microsoft.com/office/officeart/2005/8/layout/process1"/>
    <dgm:cxn modelId="{4B2E68A5-210F-453D-A25C-41F77FB5BD9A}" type="presParOf" srcId="{685DB7CD-6521-4842-AFC5-25AF8C642180}" destId="{B54EC7C0-BC39-4F12-A846-881157F1FD6B}" srcOrd="1" destOrd="0" presId="urn:microsoft.com/office/officeart/2005/8/layout/process1"/>
    <dgm:cxn modelId="{5DE4A741-C074-472E-9F80-1BD139CD0E7C}" type="presParOf" srcId="{B54EC7C0-BC39-4F12-A846-881157F1FD6B}" destId="{D81D2703-C8F3-4239-800F-31876BE42219}" srcOrd="0" destOrd="0" presId="urn:microsoft.com/office/officeart/2005/8/layout/process1"/>
    <dgm:cxn modelId="{778320A1-9C7F-4CAE-BD3C-42D933B98804}" type="presParOf" srcId="{685DB7CD-6521-4842-AFC5-25AF8C642180}" destId="{49B89A8F-BA7F-45CD-AAEA-FAC101E32685}" srcOrd="2" destOrd="0" presId="urn:microsoft.com/office/officeart/2005/8/layout/process1"/>
    <dgm:cxn modelId="{0859CE15-1D02-4A51-B285-FC421C18A0E2}" type="presParOf" srcId="{685DB7CD-6521-4842-AFC5-25AF8C642180}" destId="{A92D3F44-8F09-47E8-8680-C703062828A3}" srcOrd="3" destOrd="0" presId="urn:microsoft.com/office/officeart/2005/8/layout/process1"/>
    <dgm:cxn modelId="{E2A38C7D-FBC0-4A44-BA78-B05603F2065C}" type="presParOf" srcId="{A92D3F44-8F09-47E8-8680-C703062828A3}" destId="{39491F31-9DA9-4E92-BB97-B5F3A187049F}" srcOrd="0" destOrd="0" presId="urn:microsoft.com/office/officeart/2005/8/layout/process1"/>
    <dgm:cxn modelId="{5D3E1A5B-D59C-43A9-B6C8-D2B4AE088B3F}" type="presParOf" srcId="{685DB7CD-6521-4842-AFC5-25AF8C642180}" destId="{F7718E32-40BE-470E-8116-3C05DC054B60}" srcOrd="4" destOrd="0" presId="urn:microsoft.com/office/officeart/2005/8/layout/process1"/>
    <dgm:cxn modelId="{E2FF221D-4B5A-4248-A5B0-0CAA62755A50}" type="presParOf" srcId="{685DB7CD-6521-4842-AFC5-25AF8C642180}" destId="{4F04FD12-CE3B-4FFA-B620-3ABC53AB72EE}" srcOrd="5" destOrd="0" presId="urn:microsoft.com/office/officeart/2005/8/layout/process1"/>
    <dgm:cxn modelId="{77D16D32-6815-4E2F-8670-B95C5A9E23EF}" type="presParOf" srcId="{4F04FD12-CE3B-4FFA-B620-3ABC53AB72EE}" destId="{7ED77E31-3715-49FC-9F94-5B648FCC78E5}" srcOrd="0" destOrd="0" presId="urn:microsoft.com/office/officeart/2005/8/layout/process1"/>
    <dgm:cxn modelId="{756BDDA4-4179-4447-810E-50F2A6D34E8D}" type="presParOf" srcId="{685DB7CD-6521-4842-AFC5-25AF8C642180}" destId="{F23E8D47-E793-4F1B-8038-E73F3EEFFFDF}"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2F72E1-A15D-460B-B084-2A549E7EE8BA}">
      <dsp:nvSpPr>
        <dsp:cNvPr id="0" name=""/>
        <dsp:cNvSpPr/>
      </dsp:nvSpPr>
      <dsp:spPr>
        <a:xfrm>
          <a:off x="4877" y="2079204"/>
          <a:ext cx="2132762" cy="127965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Image Preprocessing</a:t>
          </a:r>
          <a:endParaRPr lang="en-IN" sz="2200" kern="1200" dirty="0"/>
        </a:p>
      </dsp:txBody>
      <dsp:txXfrm>
        <a:off x="42357" y="2116684"/>
        <a:ext cx="2057802" cy="1204697"/>
      </dsp:txXfrm>
    </dsp:sp>
    <dsp:sp modelId="{B54EC7C0-BC39-4F12-A846-881157F1FD6B}">
      <dsp:nvSpPr>
        <dsp:cNvPr id="0" name=""/>
        <dsp:cNvSpPr/>
      </dsp:nvSpPr>
      <dsp:spPr>
        <a:xfrm>
          <a:off x="2350916" y="2454570"/>
          <a:ext cx="452145" cy="5289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350916" y="2560355"/>
        <a:ext cx="316502" cy="317355"/>
      </dsp:txXfrm>
    </dsp:sp>
    <dsp:sp modelId="{49B89A8F-BA7F-45CD-AAEA-FAC101E32685}">
      <dsp:nvSpPr>
        <dsp:cNvPr id="0" name=""/>
        <dsp:cNvSpPr/>
      </dsp:nvSpPr>
      <dsp:spPr>
        <a:xfrm>
          <a:off x="2990745" y="2079204"/>
          <a:ext cx="2132762" cy="127965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Color Processing</a:t>
          </a:r>
          <a:endParaRPr lang="en-IN" sz="2200" kern="1200" dirty="0"/>
        </a:p>
      </dsp:txBody>
      <dsp:txXfrm>
        <a:off x="3028225" y="2116684"/>
        <a:ext cx="2057802" cy="1204697"/>
      </dsp:txXfrm>
    </dsp:sp>
    <dsp:sp modelId="{A92D3F44-8F09-47E8-8680-C703062828A3}">
      <dsp:nvSpPr>
        <dsp:cNvPr id="0" name=""/>
        <dsp:cNvSpPr/>
      </dsp:nvSpPr>
      <dsp:spPr>
        <a:xfrm>
          <a:off x="5336784" y="2454570"/>
          <a:ext cx="452145" cy="5289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5336784" y="2560355"/>
        <a:ext cx="316502" cy="317355"/>
      </dsp:txXfrm>
    </dsp:sp>
    <dsp:sp modelId="{F7718E32-40BE-470E-8116-3C05DC054B60}">
      <dsp:nvSpPr>
        <dsp:cNvPr id="0" name=""/>
        <dsp:cNvSpPr/>
      </dsp:nvSpPr>
      <dsp:spPr>
        <a:xfrm>
          <a:off x="5976613" y="2079204"/>
          <a:ext cx="2132762" cy="127965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Grayscaling, Filtering &amp; Enhancing</a:t>
          </a:r>
          <a:endParaRPr lang="en-IN" sz="2200" kern="1200" dirty="0"/>
        </a:p>
      </dsp:txBody>
      <dsp:txXfrm>
        <a:off x="6014093" y="2116684"/>
        <a:ext cx="2057802" cy="1204697"/>
      </dsp:txXfrm>
    </dsp:sp>
    <dsp:sp modelId="{4F04FD12-CE3B-4FFA-B620-3ABC53AB72EE}">
      <dsp:nvSpPr>
        <dsp:cNvPr id="0" name=""/>
        <dsp:cNvSpPr/>
      </dsp:nvSpPr>
      <dsp:spPr>
        <a:xfrm>
          <a:off x="8322651" y="2454570"/>
          <a:ext cx="452145" cy="5289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8322651" y="2560355"/>
        <a:ext cx="316502" cy="317355"/>
      </dsp:txXfrm>
    </dsp:sp>
    <dsp:sp modelId="{F23E8D47-E793-4F1B-8038-E73F3EEFFFDF}">
      <dsp:nvSpPr>
        <dsp:cNvPr id="0" name=""/>
        <dsp:cNvSpPr/>
      </dsp:nvSpPr>
      <dsp:spPr>
        <a:xfrm>
          <a:off x="8962480" y="2079204"/>
          <a:ext cx="2132762" cy="127965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Blob Analysis &amp; Object Counting</a:t>
          </a:r>
          <a:endParaRPr lang="en-IN" sz="2200" kern="1200" dirty="0"/>
        </a:p>
      </dsp:txBody>
      <dsp:txXfrm>
        <a:off x="8999960" y="2116684"/>
        <a:ext cx="2057802" cy="120469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4" y="2514601"/>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4" y="4777381"/>
            <a:ext cx="8915399" cy="1126283"/>
          </a:xfrm>
        </p:spPr>
        <p:txBody>
          <a:bodyPr anchor="t"/>
          <a:lstStyle>
            <a:lvl1pPr marL="0" indent="0" algn="l">
              <a:buNone/>
              <a:defRPr>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33A1F1-8DEE-4817-B68B-BC7948D6579E}" type="datetimeFigureOut">
              <a:rPr lang="en-IN" smtClean="0"/>
              <a:t>10-04-2023</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1" y="4323812"/>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4" y="4529542"/>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1763363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33A1F1-8DEE-4817-B68B-BC7948D6579E}" type="datetimeFigureOut">
              <a:rPr lang="en-IN" smtClean="0"/>
              <a:t>10-04-2023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3156382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4"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3530129"/>
            <a:ext cx="8915399" cy="860400"/>
          </a:xfrm>
        </p:spPr>
        <p:txBody>
          <a:bodyPr anchor="t"/>
          <a:lstStyle>
            <a:lvl1pPr marL="0" indent="0" algn="l">
              <a:buNone/>
              <a:defRPr sz="20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33A1F1-8DEE-4817-B68B-BC7948D6579E}" type="datetimeFigureOut">
              <a:rPr lang="en-IN" smtClean="0"/>
              <a:t>10-04-2023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2650218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33A1F1-8DEE-4817-B68B-BC7948D6579E}" type="datetimeFigureOut">
              <a:rPr lang="en-IN" smtClean="0"/>
              <a:t>10-04-2023</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4" y="787784"/>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1643653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4" y="1972703"/>
            <a:ext cx="3992732"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30" y="1969475"/>
            <a:ext cx="3999001"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5"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33A1F1-8DEE-4817-B68B-BC7948D6579E}" type="datetimeFigureOut">
              <a:rPr lang="en-IN" smtClean="0"/>
              <a:t>10-04-2023</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4" y="787784"/>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3795503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33A1F1-8DEE-4817-B68B-BC7948D6579E}" type="datetimeFigureOut">
              <a:rPr lang="en-IN" smtClean="0"/>
              <a:t>10-04-2023</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3801837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33A1F1-8DEE-4817-B68B-BC7948D6579E}" type="datetimeFigureOut">
              <a:rPr lang="en-IN" smtClean="0"/>
              <a:t>10-04-2023</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321332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90"/>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4" y="1598613"/>
            <a:ext cx="3505199" cy="4262436"/>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33A1F1-8DEE-4817-B68B-BC7948D6579E}" type="datetimeFigureOut">
              <a:rPr lang="en-IN" smtClean="0"/>
              <a:t>10-04-2023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713573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33A1F1-8DEE-4817-B68B-BC7948D6579E}" type="datetimeFigureOut">
              <a:rPr lang="en-IN" smtClean="0"/>
              <a:t>10-04-2023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402022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4"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33A1F1-8DEE-4817-B68B-BC7948D6579E}" type="datetimeFigureOut">
              <a:rPr lang="en-IN" smtClean="0"/>
              <a:t>10-04-2023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217615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5"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4" y="4354046"/>
            <a:ext cx="8915399" cy="1555864"/>
          </a:xfrm>
        </p:spPr>
        <p:txBody>
          <a:bodyPr anchor="ctr">
            <a:normAutofit/>
          </a:bodyPr>
          <a:lstStyle>
            <a:lvl1pPr marL="0" indent="0" algn="l">
              <a:buNone/>
              <a:defRPr sz="1800">
                <a:solidFill>
                  <a:schemeClr val="tx1">
                    <a:lumMod val="65000"/>
                    <a:lumOff val="3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33A1F1-8DEE-4817-B68B-BC7948D6579E}" type="datetimeFigureOut">
              <a:rPr lang="en-IN" smtClean="0"/>
              <a:t>10-04-2023</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8" y="31781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1"/>
            <a:ext cx="779767" cy="365125"/>
          </a:xfrm>
        </p:spPr>
        <p:txBody>
          <a:bodyPr/>
          <a:lstStyle/>
          <a:p>
            <a:fld id="{AC9A540B-43EC-45F2-BEFA-D17719F7E88D}"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4517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2"/>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A33A1F1-8DEE-4817-B68B-BC7948D6579E}" type="datetimeFigureOut">
              <a:rPr lang="en-IN" smtClean="0"/>
              <a:t>10-04-2023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1099947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50" y="609600"/>
            <a:ext cx="839392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A33A1F1-8DEE-4817-B68B-BC7948D6579E}" type="datetimeFigureOut">
              <a:rPr lang="en-IN" smtClean="0"/>
              <a:t>10-04-2023</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AC9A540B-43EC-45F2-BEFA-D17719F7E88D}"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93041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4"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A33A1F1-8DEE-4817-B68B-BC7948D6579E}" type="datetimeFigureOut">
              <a:rPr lang="en-IN" smtClean="0"/>
              <a:t>10-04-2023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9"/>
            <a:ext cx="779767" cy="365125"/>
          </a:xfrm>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921917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33A1F1-8DEE-4817-B68B-BC7948D6579E}" type="datetimeFigureOut">
              <a:rPr lang="en-IN" smtClean="0"/>
              <a:t>10-04-2023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111104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3" y="627407"/>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7"/>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33A1F1-8DEE-4817-B68B-BC7948D6579E}" type="datetimeFigureOut">
              <a:rPr lang="en-IN" smtClean="0"/>
              <a:t>10-04-2023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7"/>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C9A540B-43EC-45F2-BEFA-D17719F7E88D}" type="slidenum">
              <a:rPr lang="en-IN" smtClean="0"/>
              <a:t>‹#›</a:t>
            </a:fld>
            <a:endParaRPr lang="en-IN"/>
          </a:p>
        </p:txBody>
      </p:sp>
    </p:spTree>
    <p:extLst>
      <p:ext uri="{BB962C8B-B14F-4D97-AF65-F5344CB8AC3E}">
        <p14:creationId xmlns:p14="http://schemas.microsoft.com/office/powerpoint/2010/main" val="220124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0000"/>
                <a:satMod val="92000"/>
                <a:lumMod val="80000"/>
                <a:lumOff val="20000"/>
              </a:schemeClr>
            </a:gs>
            <a:gs pos="100000">
              <a:schemeClr val="bg2">
                <a:shade val="98000"/>
                <a:satMod val="120000"/>
                <a:lumMod val="98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2"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5"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6"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3"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A33A1F1-8DEE-4817-B68B-BC7948D6579E}" type="datetimeFigureOut">
              <a:rPr lang="en-IN" smtClean="0"/>
              <a:t>10-04-2023</a:t>
            </a:fld>
            <a:endParaRPr lang="en-IN"/>
          </a:p>
        </p:txBody>
      </p:sp>
      <p:sp>
        <p:nvSpPr>
          <p:cNvPr id="5" name="Footer Placeholder 4"/>
          <p:cNvSpPr>
            <a:spLocks noGrp="1"/>
          </p:cNvSpPr>
          <p:nvPr>
            <p:ph type="ftr" sz="quarter" idx="3"/>
          </p:nvPr>
        </p:nvSpPr>
        <p:spPr>
          <a:xfrm>
            <a:off x="2589214" y="6135810"/>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4" y="787784"/>
            <a:ext cx="779767" cy="365125"/>
          </a:xfrm>
          <a:prstGeom prst="rect">
            <a:avLst/>
          </a:prstGeom>
        </p:spPr>
        <p:txBody>
          <a:bodyPr vert="horz" lIns="91440" tIns="45720" rIns="91440" bIns="45720" rtlCol="0" anchor="ctr"/>
          <a:lstStyle>
            <a:lvl1pPr algn="r">
              <a:defRPr sz="2000">
                <a:solidFill>
                  <a:srgbClr val="FEFFFF"/>
                </a:solidFill>
              </a:defRPr>
            </a:lvl1pPr>
          </a:lstStyle>
          <a:p>
            <a:fld id="{AC9A540B-43EC-45F2-BEFA-D17719F7E88D}" type="slidenum">
              <a:rPr lang="en-IN" smtClean="0"/>
              <a:t>‹#›</a:t>
            </a:fld>
            <a:endParaRPr lang="en-IN"/>
          </a:p>
        </p:txBody>
      </p:sp>
    </p:spTree>
    <p:extLst>
      <p:ext uri="{BB962C8B-B14F-4D97-AF65-F5344CB8AC3E}">
        <p14:creationId xmlns:p14="http://schemas.microsoft.com/office/powerpoint/2010/main" val="36050034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189"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0000"/>
            <a:lum/>
          </a:blip>
          <a:srcRect/>
          <a:stretch>
            <a:fillRect t="-35000" b="-35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5571CB-5AD8-1115-CE28-849D2BE814D0}"/>
              </a:ext>
            </a:extLst>
          </p:cNvPr>
          <p:cNvSpPr/>
          <p:nvPr/>
        </p:nvSpPr>
        <p:spPr>
          <a:xfrm>
            <a:off x="330708" y="2136339"/>
            <a:ext cx="11530584" cy="2585323"/>
          </a:xfrm>
          <a:prstGeom prst="rect">
            <a:avLst/>
          </a:prstGeom>
          <a:noFill/>
        </p:spPr>
        <p:txBody>
          <a:bodyPr wrap="square" lIns="91440" tIns="45720" rIns="91440" bIns="45720">
            <a:spAutoFit/>
          </a:bodyPr>
          <a:lstStyle/>
          <a:p>
            <a:pPr algn="ctr"/>
            <a:r>
              <a:rPr lang="en-US" sz="5400" b="1" dirty="0">
                <a:ln w="6600">
                  <a:solidFill>
                    <a:schemeClr val="accent1">
                      <a:lumMod val="75000"/>
                    </a:schemeClr>
                  </a:solidFill>
                  <a:prstDash val="solid"/>
                </a:ln>
                <a:solidFill>
                  <a:srgbClr val="FFFFFF"/>
                </a:solidFill>
                <a:effectLst>
                  <a:glow rad="63500">
                    <a:schemeClr val="accent1">
                      <a:satMod val="175000"/>
                      <a:alpha val="40000"/>
                    </a:schemeClr>
                  </a:glow>
                  <a:outerShdw dist="38100" dir="2700000" algn="tl" rotWithShape="0">
                    <a:schemeClr val="accent2"/>
                  </a:outerShdw>
                </a:effectLst>
                <a:latin typeface="Arial" panose="020B0604020202020204" pitchFamily="34" charset="0"/>
              </a:rPr>
              <a:t>Digital Image Processing Techniques for Object Detection</a:t>
            </a:r>
            <a:br>
              <a:rPr lang="en-US" sz="5400" b="1" dirty="0">
                <a:ln w="6600">
                  <a:solidFill>
                    <a:schemeClr val="accent1">
                      <a:lumMod val="75000"/>
                    </a:schemeClr>
                  </a:solidFill>
                  <a:prstDash val="solid"/>
                </a:ln>
                <a:solidFill>
                  <a:srgbClr val="FFFFFF"/>
                </a:solidFill>
                <a:effectLst>
                  <a:glow rad="63500">
                    <a:schemeClr val="accent1">
                      <a:satMod val="175000"/>
                      <a:alpha val="40000"/>
                    </a:schemeClr>
                  </a:glow>
                  <a:outerShdw dist="38100" dir="2700000" algn="tl" rotWithShape="0">
                    <a:schemeClr val="accent2"/>
                  </a:outerShdw>
                </a:effectLst>
              </a:rPr>
            </a:br>
            <a:r>
              <a:rPr lang="en-US" sz="5400" b="1" dirty="0">
                <a:ln w="6600">
                  <a:solidFill>
                    <a:schemeClr val="accent1">
                      <a:lumMod val="75000"/>
                    </a:schemeClr>
                  </a:solidFill>
                  <a:prstDash val="solid"/>
                </a:ln>
                <a:solidFill>
                  <a:srgbClr val="FFFFFF"/>
                </a:solidFill>
                <a:effectLst>
                  <a:glow rad="63500">
                    <a:schemeClr val="accent1">
                      <a:satMod val="175000"/>
                      <a:alpha val="40000"/>
                    </a:schemeClr>
                  </a:glow>
                  <a:outerShdw dist="38100" dir="2700000" algn="tl" rotWithShape="0">
                    <a:schemeClr val="accent2"/>
                  </a:outerShdw>
                </a:effectLst>
                <a:latin typeface="Arial" panose="020B0604020202020204" pitchFamily="34" charset="0"/>
              </a:rPr>
              <a:t>From Complex Background Image</a:t>
            </a:r>
            <a:endParaRPr lang="en-IN" sz="5400" b="1" dirty="0">
              <a:ln w="6600">
                <a:solidFill>
                  <a:schemeClr val="accent1">
                    <a:lumMod val="75000"/>
                  </a:schemeClr>
                </a:solidFill>
                <a:prstDash val="solid"/>
              </a:ln>
              <a:solidFill>
                <a:srgbClr val="FFFFFF"/>
              </a:solidFill>
              <a:effectLst>
                <a:glow rad="63500">
                  <a:schemeClr val="accent1">
                    <a:satMod val="175000"/>
                    <a:alpha val="40000"/>
                  </a:schemeClr>
                </a:glow>
                <a:outerShdw dist="38100" dir="2700000" algn="tl" rotWithShape="0">
                  <a:schemeClr val="accent2"/>
                </a:outerShdw>
              </a:effectLst>
            </a:endParaRPr>
          </a:p>
        </p:txBody>
      </p:sp>
    </p:spTree>
    <p:extLst>
      <p:ext uri="{BB962C8B-B14F-4D97-AF65-F5344CB8AC3E}">
        <p14:creationId xmlns:p14="http://schemas.microsoft.com/office/powerpoint/2010/main" val="4277947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607405" y="624109"/>
            <a:ext cx="6043075" cy="727171"/>
          </a:xfrm>
          <a:noFill/>
          <a:ln>
            <a:noFill/>
          </a:ln>
        </p:spPr>
        <p:txBody>
          <a:bodyPr>
            <a:noAutofit/>
          </a:bodyPr>
          <a:lstStyle/>
          <a:p>
            <a:r>
              <a:rPr lang="en-US" sz="40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Objection Detection</a:t>
            </a:r>
            <a:br>
              <a:rPr lang="en-US" dirty="0"/>
            </a:br>
            <a:endParaRPr lang="en-IN" dirty="0"/>
          </a:p>
        </p:txBody>
      </p:sp>
      <p:sp>
        <p:nvSpPr>
          <p:cNvPr id="3" name="Content Placeholder 2">
            <a:extLst>
              <a:ext uri="{FF2B5EF4-FFF2-40B4-BE49-F238E27FC236}">
                <a16:creationId xmlns:a16="http://schemas.microsoft.com/office/drawing/2014/main" id="{C4EF4598-F5E2-4F46-B6B4-6594ECC36226}"/>
              </a:ext>
            </a:extLst>
          </p:cNvPr>
          <p:cNvSpPr>
            <a:spLocks noGrp="1"/>
          </p:cNvSpPr>
          <p:nvPr>
            <p:ph idx="1"/>
          </p:nvPr>
        </p:nvSpPr>
        <p:spPr>
          <a:xfrm>
            <a:off x="1148080" y="1869440"/>
            <a:ext cx="11186904" cy="4785360"/>
          </a:xfrm>
        </p:spPr>
        <p:txBody>
          <a:bodyPr/>
          <a:lstStyle/>
          <a:p>
            <a:r>
              <a:rPr lang="en-US" sz="2000" dirty="0">
                <a:solidFill>
                  <a:schemeClr val="tx2">
                    <a:lumMod val="50000"/>
                  </a:schemeClr>
                </a:solidFill>
              </a:rPr>
              <a:t>Object detection is a computer vision technique for locating instances of objects in images or videos.</a:t>
            </a:r>
          </a:p>
          <a:p>
            <a:r>
              <a:rPr lang="en-US" sz="2000" dirty="0">
                <a:solidFill>
                  <a:schemeClr val="tx2">
                    <a:lumMod val="50000"/>
                  </a:schemeClr>
                </a:solidFill>
              </a:rPr>
              <a:t>When humans look at images or video, we can recognize and locate objects of interest within a matter of moments. Object detection replicates this intelligence using a computer.</a:t>
            </a:r>
          </a:p>
          <a:p>
            <a:r>
              <a:rPr lang="en-US" sz="2000" dirty="0">
                <a:solidFill>
                  <a:schemeClr val="tx2">
                    <a:lumMod val="50000"/>
                  </a:schemeClr>
                </a:solidFill>
              </a:rPr>
              <a:t>Different approaches can be used to detect objects, such as Deep Learning, Machine Learning, and Image Segmentation.</a:t>
            </a:r>
          </a:p>
          <a:p>
            <a:r>
              <a:rPr lang="en-US" sz="2000" dirty="0">
                <a:solidFill>
                  <a:schemeClr val="tx2">
                    <a:lumMod val="50000"/>
                  </a:schemeClr>
                </a:solidFill>
              </a:rPr>
              <a:t>Object detection is a powerful tool that can be used in a variety of applications, from facial recognition to autonomous vehicles. It can also be used in applications such as security surveillance, medical imaging, autonomous navigation, and more.</a:t>
            </a:r>
          </a:p>
          <a:p>
            <a:endParaRPr lang="en-US" dirty="0">
              <a:solidFill>
                <a:schemeClr val="tx2">
                  <a:lumMod val="50000"/>
                </a:schemeClr>
              </a:solidFill>
            </a:endParaRPr>
          </a:p>
          <a:p>
            <a:endParaRPr lang="en-IN" dirty="0"/>
          </a:p>
        </p:txBody>
      </p:sp>
    </p:spTree>
    <p:extLst>
      <p:ext uri="{BB962C8B-B14F-4D97-AF65-F5344CB8AC3E}">
        <p14:creationId xmlns:p14="http://schemas.microsoft.com/office/powerpoint/2010/main" val="3621074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5056AB-F5BB-D8CD-B40A-09EAA8FF7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180" y="1005840"/>
            <a:ext cx="11755641" cy="3667760"/>
          </a:xfrm>
          <a:prstGeom prst="rect">
            <a:avLst/>
          </a:prstGeom>
          <a:ln w="19050">
            <a:solidFill>
              <a:schemeClr val="bg2">
                <a:lumMod val="50000"/>
              </a:schemeClr>
            </a:solidFill>
          </a:ln>
        </p:spPr>
      </p:pic>
      <p:sp>
        <p:nvSpPr>
          <p:cNvPr id="6" name="TextBox 5">
            <a:extLst>
              <a:ext uri="{FF2B5EF4-FFF2-40B4-BE49-F238E27FC236}">
                <a16:creationId xmlns:a16="http://schemas.microsoft.com/office/drawing/2014/main" id="{C6D67B61-81E1-790E-7BD8-628172C762D9}"/>
              </a:ext>
            </a:extLst>
          </p:cNvPr>
          <p:cNvSpPr txBox="1"/>
          <p:nvPr/>
        </p:nvSpPr>
        <p:spPr>
          <a:xfrm>
            <a:off x="3609340" y="5421273"/>
            <a:ext cx="4973321" cy="430887"/>
          </a:xfrm>
          <a:prstGeom prst="rect">
            <a:avLst/>
          </a:prstGeom>
          <a:noFill/>
          <a:ln>
            <a:noFill/>
          </a:ln>
        </p:spPr>
        <p:txBody>
          <a:bodyPr wrap="square" rtlCol="0">
            <a:spAutoFit/>
          </a:bodyPr>
          <a:lstStyle/>
          <a:p>
            <a:r>
              <a:rPr lang="en-US" sz="2200" dirty="0">
                <a:latin typeface="+mj-lt"/>
              </a:rPr>
              <a:t>Fig.  Example of Object Detection</a:t>
            </a:r>
            <a:endParaRPr lang="en-IN" sz="2200" dirty="0">
              <a:latin typeface="+mj-lt"/>
            </a:endParaRPr>
          </a:p>
        </p:txBody>
      </p:sp>
    </p:spTree>
    <p:extLst>
      <p:ext uri="{BB962C8B-B14F-4D97-AF65-F5344CB8AC3E}">
        <p14:creationId xmlns:p14="http://schemas.microsoft.com/office/powerpoint/2010/main" val="1924207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617565" y="609600"/>
            <a:ext cx="7536595" cy="727171"/>
          </a:xfrm>
          <a:noFill/>
          <a:ln>
            <a:noFill/>
          </a:ln>
        </p:spPr>
        <p:txBody>
          <a:bodyPr>
            <a:noAutofit/>
          </a:bodyPr>
          <a:lstStyle/>
          <a:p>
            <a:r>
              <a:rPr lang="en-US" sz="40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Objectives</a:t>
            </a:r>
            <a:br>
              <a:rPr lang="en-US" dirty="0"/>
            </a:br>
            <a:endParaRPr lang="en-IN" dirty="0"/>
          </a:p>
        </p:txBody>
      </p:sp>
      <p:sp>
        <p:nvSpPr>
          <p:cNvPr id="3" name="Content Placeholder 2">
            <a:extLst>
              <a:ext uri="{FF2B5EF4-FFF2-40B4-BE49-F238E27FC236}">
                <a16:creationId xmlns:a16="http://schemas.microsoft.com/office/drawing/2014/main" id="{C4EF4598-F5E2-4F46-B6B4-6594ECC36226}"/>
              </a:ext>
            </a:extLst>
          </p:cNvPr>
          <p:cNvSpPr>
            <a:spLocks noGrp="1"/>
          </p:cNvSpPr>
          <p:nvPr>
            <p:ph idx="1"/>
          </p:nvPr>
        </p:nvSpPr>
        <p:spPr>
          <a:xfrm>
            <a:off x="955040" y="1336771"/>
            <a:ext cx="10912584" cy="3600989"/>
          </a:xfrm>
        </p:spPr>
        <p:txBody>
          <a:bodyPr>
            <a:noAutofit/>
          </a:bodyPr>
          <a:lstStyle/>
          <a:p>
            <a:endParaRPr lang="en-US" sz="2000" dirty="0">
              <a:solidFill>
                <a:srgbClr val="E14115"/>
              </a:solidFill>
            </a:endParaRPr>
          </a:p>
          <a:p>
            <a:pPr marL="0" indent="0">
              <a:buNone/>
            </a:pPr>
            <a:endParaRPr lang="en-US" sz="2000" dirty="0">
              <a:solidFill>
                <a:srgbClr val="E14115"/>
              </a:solidFill>
            </a:endParaRPr>
          </a:p>
          <a:p>
            <a:r>
              <a:rPr lang="en-US" sz="2000" dirty="0">
                <a:solidFill>
                  <a:schemeClr val="tx2">
                    <a:lumMod val="50000"/>
                  </a:schemeClr>
                </a:solidFill>
              </a:rPr>
              <a:t>This project aims to detect and allocate the object using a few methods such as</a:t>
            </a:r>
            <a:br>
              <a:rPr lang="en-US" sz="2000" dirty="0">
                <a:solidFill>
                  <a:schemeClr val="tx2">
                    <a:lumMod val="50000"/>
                  </a:schemeClr>
                </a:solidFill>
              </a:rPr>
            </a:br>
            <a:r>
              <a:rPr lang="en-US" sz="2000" dirty="0">
                <a:solidFill>
                  <a:schemeClr val="tx2">
                    <a:lumMod val="50000"/>
                  </a:schemeClr>
                </a:solidFill>
              </a:rPr>
              <a:t>Color processing and Blob Analysis.</a:t>
            </a:r>
          </a:p>
          <a:p>
            <a:r>
              <a:rPr lang="en-US" sz="2000" dirty="0">
                <a:solidFill>
                  <a:schemeClr val="tx2">
                    <a:lumMod val="50000"/>
                  </a:schemeClr>
                </a:solidFill>
              </a:rPr>
              <a:t>The Method should be automatically detect and count the total number of object from image of a mango tree.</a:t>
            </a:r>
          </a:p>
          <a:p>
            <a:r>
              <a:rPr lang="en-US" sz="2000" dirty="0">
                <a:solidFill>
                  <a:schemeClr val="tx2">
                    <a:lumMod val="50000"/>
                  </a:schemeClr>
                </a:solidFill>
              </a:rPr>
              <a:t>By using this method, we will be able to efficiently detect the mangos, eliminate the background image and count the total number of object. </a:t>
            </a:r>
            <a:br>
              <a:rPr lang="en-US" sz="2000" dirty="0">
                <a:solidFill>
                  <a:schemeClr val="tx2">
                    <a:lumMod val="50000"/>
                  </a:schemeClr>
                </a:solidFill>
              </a:rPr>
            </a:br>
            <a:br>
              <a:rPr lang="en-US" sz="3200" dirty="0"/>
            </a:br>
            <a:br>
              <a:rPr lang="en-US" dirty="0"/>
            </a:br>
            <a:br>
              <a:rPr lang="en-US" dirty="0"/>
            </a:br>
            <a:endParaRPr lang="en-US" dirty="0"/>
          </a:p>
          <a:p>
            <a:endParaRPr lang="en-IN" dirty="0"/>
          </a:p>
        </p:txBody>
      </p:sp>
    </p:spTree>
    <p:extLst>
      <p:ext uri="{BB962C8B-B14F-4D97-AF65-F5344CB8AC3E}">
        <p14:creationId xmlns:p14="http://schemas.microsoft.com/office/powerpoint/2010/main" val="4279087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597245" y="583469"/>
            <a:ext cx="7536595" cy="727171"/>
          </a:xfrm>
          <a:noFill/>
          <a:ln>
            <a:noFill/>
          </a:ln>
        </p:spPr>
        <p:txBody>
          <a:bodyPr>
            <a:noAutofit/>
          </a:bodyPr>
          <a:lstStyle/>
          <a:p>
            <a:r>
              <a:rPr lang="en-US" sz="40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Challenges</a:t>
            </a:r>
            <a:br>
              <a:rPr lang="en-US" dirty="0"/>
            </a:br>
            <a:endParaRPr lang="en-IN" dirty="0"/>
          </a:p>
        </p:txBody>
      </p:sp>
      <p:sp>
        <p:nvSpPr>
          <p:cNvPr id="3" name="Content Placeholder 2">
            <a:extLst>
              <a:ext uri="{FF2B5EF4-FFF2-40B4-BE49-F238E27FC236}">
                <a16:creationId xmlns:a16="http://schemas.microsoft.com/office/drawing/2014/main" id="{C4EF4598-F5E2-4F46-B6B4-6594ECC36226}"/>
              </a:ext>
            </a:extLst>
          </p:cNvPr>
          <p:cNvSpPr>
            <a:spLocks noGrp="1"/>
          </p:cNvSpPr>
          <p:nvPr>
            <p:ph idx="1"/>
          </p:nvPr>
        </p:nvSpPr>
        <p:spPr>
          <a:xfrm>
            <a:off x="904240" y="1509491"/>
            <a:ext cx="11084930" cy="5161280"/>
          </a:xfrm>
        </p:spPr>
        <p:txBody>
          <a:bodyPr>
            <a:normAutofit/>
          </a:bodyPr>
          <a:lstStyle/>
          <a:p>
            <a:endParaRPr lang="en-US" sz="2000" dirty="0">
              <a:solidFill>
                <a:srgbClr val="E14115"/>
              </a:solidFill>
            </a:endParaRPr>
          </a:p>
          <a:p>
            <a:r>
              <a:rPr lang="en-US" sz="2000" dirty="0">
                <a:solidFill>
                  <a:schemeClr val="tx2">
                    <a:lumMod val="50000"/>
                  </a:schemeClr>
                </a:solidFill>
              </a:rPr>
              <a:t>In the process of object detection, targeted object which is obscured due to presence of other object is one of the main problem faces in image processing field. This is due to the object are not clearly expressing in the image and will assume and eliminated by the program.</a:t>
            </a:r>
          </a:p>
          <a:p>
            <a:r>
              <a:rPr lang="en-US" sz="2000" dirty="0">
                <a:solidFill>
                  <a:schemeClr val="tx2">
                    <a:lumMod val="50000"/>
                  </a:schemeClr>
                </a:solidFill>
              </a:rPr>
              <a:t>Objects which overlapping each other also made the process challenging where hidden object will be detected and counted and the total number will be no accurate.</a:t>
            </a:r>
          </a:p>
          <a:p>
            <a:r>
              <a:rPr lang="en-US" sz="2000" dirty="0">
                <a:solidFill>
                  <a:schemeClr val="tx2">
                    <a:lumMod val="50000"/>
                  </a:schemeClr>
                </a:solidFill>
              </a:rPr>
              <a:t> On color processing, lighting intensity may also affect the original color of object to be not accurate. The light intensity on each object makes the background object have almost the similar color as the target object.</a:t>
            </a:r>
          </a:p>
          <a:p>
            <a:r>
              <a:rPr lang="en-US" sz="2000" dirty="0">
                <a:solidFill>
                  <a:schemeClr val="tx2">
                    <a:lumMod val="50000"/>
                  </a:schemeClr>
                </a:solidFill>
              </a:rPr>
              <a:t>To eliminate all these problem, a proper image segmentation process and technique must taken into account. </a:t>
            </a:r>
            <a:br>
              <a:rPr lang="en-US" dirty="0">
                <a:solidFill>
                  <a:schemeClr val="tx2">
                    <a:lumMod val="50000"/>
                  </a:schemeClr>
                </a:solidFill>
              </a:rPr>
            </a:br>
            <a:endParaRPr lang="en-IN" dirty="0">
              <a:solidFill>
                <a:schemeClr val="tx2">
                  <a:lumMod val="50000"/>
                </a:schemeClr>
              </a:solidFill>
            </a:endParaRPr>
          </a:p>
        </p:txBody>
      </p:sp>
    </p:spTree>
    <p:extLst>
      <p:ext uri="{BB962C8B-B14F-4D97-AF65-F5344CB8AC3E}">
        <p14:creationId xmlns:p14="http://schemas.microsoft.com/office/powerpoint/2010/main" val="438725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709005" y="628458"/>
            <a:ext cx="6043075" cy="727171"/>
          </a:xfrm>
          <a:noFill/>
          <a:ln>
            <a:noFill/>
          </a:ln>
        </p:spPr>
        <p:txBody>
          <a:bodyPr>
            <a:noAutofit/>
          </a:bodyPr>
          <a:lstStyle/>
          <a:p>
            <a:r>
              <a:rPr lang="en-US" sz="40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Methodology</a:t>
            </a:r>
            <a:br>
              <a:rPr lang="en-US" dirty="0"/>
            </a:br>
            <a:endParaRPr lang="en-IN" dirty="0"/>
          </a:p>
        </p:txBody>
      </p:sp>
      <p:sp>
        <p:nvSpPr>
          <p:cNvPr id="3" name="Content Placeholder 2">
            <a:extLst>
              <a:ext uri="{FF2B5EF4-FFF2-40B4-BE49-F238E27FC236}">
                <a16:creationId xmlns:a16="http://schemas.microsoft.com/office/drawing/2014/main" id="{C4EF4598-F5E2-4F46-B6B4-6594ECC36226}"/>
              </a:ext>
            </a:extLst>
          </p:cNvPr>
          <p:cNvSpPr>
            <a:spLocks noGrp="1"/>
          </p:cNvSpPr>
          <p:nvPr>
            <p:ph idx="1"/>
          </p:nvPr>
        </p:nvSpPr>
        <p:spPr>
          <a:xfrm>
            <a:off x="924560" y="1448531"/>
            <a:ext cx="10943059" cy="4785360"/>
          </a:xfrm>
        </p:spPr>
        <p:txBody>
          <a:bodyPr>
            <a:normAutofit/>
          </a:bodyPr>
          <a:lstStyle/>
          <a:p>
            <a:endParaRPr lang="en-US" sz="2000" dirty="0">
              <a:solidFill>
                <a:schemeClr val="tx2">
                  <a:lumMod val="50000"/>
                </a:schemeClr>
              </a:solidFill>
            </a:endParaRPr>
          </a:p>
          <a:p>
            <a:r>
              <a:rPr lang="en-US" sz="2000" dirty="0">
                <a:solidFill>
                  <a:schemeClr val="tx2">
                    <a:lumMod val="50000"/>
                  </a:schemeClr>
                </a:solidFill>
              </a:rPr>
              <a:t>To achieve the objective, several steps and method had been taken into account in order to get the result.</a:t>
            </a:r>
          </a:p>
          <a:p>
            <a:r>
              <a:rPr lang="en-US" sz="2000" b="1" u="sng" dirty="0">
                <a:solidFill>
                  <a:schemeClr val="tx2">
                    <a:lumMod val="50000"/>
                  </a:schemeClr>
                </a:solidFill>
              </a:rPr>
              <a:t>STEPS</a:t>
            </a:r>
          </a:p>
          <a:p>
            <a:pPr marL="1314418" lvl="2" indent="-514338">
              <a:buFont typeface="+mj-lt"/>
              <a:buAutoNum type="arabicPeriod"/>
            </a:pPr>
            <a:r>
              <a:rPr lang="en-US" sz="2000" dirty="0">
                <a:solidFill>
                  <a:schemeClr val="tx2">
                    <a:lumMod val="50000"/>
                  </a:schemeClr>
                </a:solidFill>
              </a:rPr>
              <a:t>Image Preprocessing</a:t>
            </a:r>
          </a:p>
          <a:p>
            <a:pPr marL="1314418" lvl="2" indent="-514338">
              <a:buFont typeface="+mj-lt"/>
              <a:buAutoNum type="arabicPeriod"/>
            </a:pPr>
            <a:r>
              <a:rPr lang="en-US" sz="2000" dirty="0">
                <a:solidFill>
                  <a:schemeClr val="tx2">
                    <a:lumMod val="50000"/>
                  </a:schemeClr>
                </a:solidFill>
              </a:rPr>
              <a:t>Color Processing</a:t>
            </a:r>
          </a:p>
          <a:p>
            <a:pPr marL="1314418" lvl="2" indent="-514338">
              <a:buFont typeface="+mj-lt"/>
              <a:buAutoNum type="arabicPeriod"/>
            </a:pPr>
            <a:r>
              <a:rPr lang="en-US" sz="2000" dirty="0">
                <a:solidFill>
                  <a:schemeClr val="tx2">
                    <a:lumMod val="50000"/>
                  </a:schemeClr>
                </a:solidFill>
              </a:rPr>
              <a:t>Gray Scaling, Filtering &amp; Enhancing </a:t>
            </a:r>
          </a:p>
          <a:p>
            <a:pPr marL="1314418" lvl="2" indent="-514338">
              <a:buFont typeface="+mj-lt"/>
              <a:buAutoNum type="arabicPeriod"/>
            </a:pPr>
            <a:r>
              <a:rPr lang="en-US" sz="2000" dirty="0">
                <a:solidFill>
                  <a:schemeClr val="tx2">
                    <a:lumMod val="50000"/>
                  </a:schemeClr>
                </a:solidFill>
              </a:rPr>
              <a:t>Blob Analysis &amp; Object Counting</a:t>
            </a:r>
            <a:br>
              <a:rPr lang="en-US" sz="2000" dirty="0">
                <a:solidFill>
                  <a:schemeClr val="tx2">
                    <a:lumMod val="50000"/>
                  </a:schemeClr>
                </a:solidFill>
              </a:rPr>
            </a:br>
            <a:endParaRPr lang="en-IN" sz="2000" dirty="0">
              <a:solidFill>
                <a:schemeClr val="tx2">
                  <a:lumMod val="50000"/>
                </a:schemeClr>
              </a:solidFill>
            </a:endParaRPr>
          </a:p>
          <a:p>
            <a:pPr marL="1714469" lvl="3" indent="-457200">
              <a:buFont typeface="+mj-lt"/>
              <a:buAutoNum type="arabicPeriod"/>
            </a:pPr>
            <a:endParaRPr lang="en-IN" sz="1400" b="1" u="sng" dirty="0">
              <a:solidFill>
                <a:schemeClr val="tx2">
                  <a:lumMod val="50000"/>
                </a:schemeClr>
              </a:solidFill>
            </a:endParaRPr>
          </a:p>
        </p:txBody>
      </p:sp>
    </p:spTree>
    <p:extLst>
      <p:ext uri="{BB962C8B-B14F-4D97-AF65-F5344CB8AC3E}">
        <p14:creationId xmlns:p14="http://schemas.microsoft.com/office/powerpoint/2010/main" val="342386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3B01588-C0CB-D0EF-012A-6EA4B877D80F}"/>
              </a:ext>
            </a:extLst>
          </p:cNvPr>
          <p:cNvSpPr txBox="1"/>
          <p:nvPr/>
        </p:nvSpPr>
        <p:spPr>
          <a:xfrm>
            <a:off x="3215640" y="5466080"/>
            <a:ext cx="5760720" cy="430887"/>
          </a:xfrm>
          <a:prstGeom prst="rect">
            <a:avLst/>
          </a:prstGeom>
          <a:noFill/>
          <a:ln>
            <a:noFill/>
          </a:ln>
        </p:spPr>
        <p:txBody>
          <a:bodyPr wrap="square" rtlCol="0">
            <a:spAutoFit/>
          </a:bodyPr>
          <a:lstStyle/>
          <a:p>
            <a:r>
              <a:rPr lang="en-US" sz="2200" dirty="0">
                <a:latin typeface="+mj-lt"/>
              </a:rPr>
              <a:t>Fig. Mango Recognition Block Diagram</a:t>
            </a:r>
            <a:endParaRPr lang="en-IN" sz="2200" dirty="0">
              <a:latin typeface="+mj-lt"/>
            </a:endParaRPr>
          </a:p>
        </p:txBody>
      </p:sp>
      <p:graphicFrame>
        <p:nvGraphicFramePr>
          <p:cNvPr id="3" name="Diagram 2">
            <a:extLst>
              <a:ext uri="{FF2B5EF4-FFF2-40B4-BE49-F238E27FC236}">
                <a16:creationId xmlns:a16="http://schemas.microsoft.com/office/drawing/2014/main" id="{0C83801F-D47B-E129-AB10-9DC7184DCC35}"/>
              </a:ext>
            </a:extLst>
          </p:cNvPr>
          <p:cNvGraphicFramePr/>
          <p:nvPr>
            <p:extLst>
              <p:ext uri="{D42A27DB-BD31-4B8C-83A1-F6EECF244321}">
                <p14:modId xmlns:p14="http://schemas.microsoft.com/office/powerpoint/2010/main" val="1879566919"/>
              </p:ext>
            </p:extLst>
          </p:nvPr>
        </p:nvGraphicFramePr>
        <p:xfrm>
          <a:off x="682906" y="719666"/>
          <a:ext cx="11100121" cy="5438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2413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668365" y="603789"/>
            <a:ext cx="7556915" cy="727171"/>
          </a:xfrm>
          <a:noFill/>
          <a:ln>
            <a:noFill/>
          </a:ln>
        </p:spPr>
        <p:txBody>
          <a:bodyPr>
            <a:noAutofit/>
          </a:bodyPr>
          <a:lstStyle/>
          <a:p>
            <a:r>
              <a:rPr lang="en-US" sz="38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STEP 1: Image Preprocessing</a:t>
            </a:r>
            <a:br>
              <a:rPr lang="en-US" dirty="0"/>
            </a:br>
            <a:endParaRPr lang="en-IN" dirty="0"/>
          </a:p>
        </p:txBody>
      </p:sp>
      <p:sp>
        <p:nvSpPr>
          <p:cNvPr id="3" name="Content Placeholder 2">
            <a:extLst>
              <a:ext uri="{FF2B5EF4-FFF2-40B4-BE49-F238E27FC236}">
                <a16:creationId xmlns:a16="http://schemas.microsoft.com/office/drawing/2014/main" id="{C4EF4598-F5E2-4F46-B6B4-6594ECC36226}"/>
              </a:ext>
            </a:extLst>
          </p:cNvPr>
          <p:cNvSpPr>
            <a:spLocks noGrp="1"/>
          </p:cNvSpPr>
          <p:nvPr>
            <p:ph idx="1"/>
          </p:nvPr>
        </p:nvSpPr>
        <p:spPr>
          <a:xfrm>
            <a:off x="1025425" y="1706880"/>
            <a:ext cx="11543239" cy="4785360"/>
          </a:xfrm>
        </p:spPr>
        <p:txBody>
          <a:bodyPr/>
          <a:lstStyle/>
          <a:p>
            <a:endParaRPr lang="en-US" sz="2000" b="0" i="0" dirty="0">
              <a:solidFill>
                <a:srgbClr val="242021"/>
              </a:solidFill>
              <a:effectLst/>
            </a:endParaRPr>
          </a:p>
          <a:p>
            <a:r>
              <a:rPr lang="en-US" sz="2000" b="0" i="0" dirty="0">
                <a:effectLst/>
              </a:rPr>
              <a:t>First of all, the images are sent into the preprocessing block.</a:t>
            </a:r>
          </a:p>
          <a:p>
            <a:r>
              <a:rPr lang="en-US" sz="2000" dirty="0"/>
              <a:t>Here </a:t>
            </a:r>
            <a:r>
              <a:rPr lang="en-US" sz="2000" b="0" i="0" dirty="0">
                <a:effectLst/>
              </a:rPr>
              <a:t>a image resize is performed where set to 320x240 pixels. </a:t>
            </a:r>
          </a:p>
          <a:p>
            <a:r>
              <a:rPr lang="en-US" sz="2000" b="0" i="0" dirty="0">
                <a:effectLst/>
              </a:rPr>
              <a:t>After that, it will directly go to the RGB adjustment where it will readjust the lighter and darker the object color and background.</a:t>
            </a:r>
            <a:r>
              <a:rPr lang="en-US" sz="2000" dirty="0"/>
              <a:t> </a:t>
            </a:r>
            <a:br>
              <a:rPr lang="en-US" sz="2000" dirty="0"/>
            </a:br>
            <a:endParaRPr lang="en-US" sz="2000" dirty="0"/>
          </a:p>
          <a:p>
            <a:endParaRPr lang="en-IN" dirty="0"/>
          </a:p>
        </p:txBody>
      </p:sp>
      <p:sp>
        <p:nvSpPr>
          <p:cNvPr id="6" name="TextBox 5">
            <a:extLst>
              <a:ext uri="{FF2B5EF4-FFF2-40B4-BE49-F238E27FC236}">
                <a16:creationId xmlns:a16="http://schemas.microsoft.com/office/drawing/2014/main" id="{2EC359E8-13AE-0F62-87FC-CFD046B9A57A}"/>
              </a:ext>
            </a:extLst>
          </p:cNvPr>
          <p:cNvSpPr txBox="1"/>
          <p:nvPr/>
        </p:nvSpPr>
        <p:spPr>
          <a:xfrm>
            <a:off x="1562470" y="4194940"/>
            <a:ext cx="10164932" cy="1754326"/>
          </a:xfrm>
          <a:prstGeom prst="rect">
            <a:avLst/>
          </a:prstGeom>
          <a:solidFill>
            <a:schemeClr val="bg1"/>
          </a:solidFill>
        </p:spPr>
        <p:txBody>
          <a:bodyPr wrap="square" rtlCol="0">
            <a:spAutoFit/>
          </a:bodyPr>
          <a:lstStyle/>
          <a:p>
            <a:endParaRPr lang="en-IN" b="0" i="0" u="none" strike="noStrike" baseline="0" dirty="0">
              <a:solidFill>
                <a:srgbClr val="228B22"/>
              </a:solidFill>
              <a:latin typeface="Courier New" panose="02070309020205020404" pitchFamily="49" charset="0"/>
            </a:endParaRPr>
          </a:p>
          <a:p>
            <a:r>
              <a:rPr lang="en-IN" b="0" i="0" u="none" strike="noStrike" baseline="0" dirty="0">
                <a:solidFill>
                  <a:srgbClr val="228B22"/>
                </a:solidFill>
                <a:latin typeface="Courier New" panose="02070309020205020404" pitchFamily="49" charset="0"/>
              </a:rPr>
              <a:t>% Original Image</a:t>
            </a:r>
          </a:p>
          <a:p>
            <a:r>
              <a:rPr lang="en-IN" dirty="0">
                <a:solidFill>
                  <a:srgbClr val="000000"/>
                </a:solidFill>
                <a:latin typeface="Courier New" panose="02070309020205020404" pitchFamily="49" charset="0"/>
              </a:rPr>
              <a:t>Img </a:t>
            </a:r>
            <a:r>
              <a:rPr lang="en-IN" b="0" i="0" u="none" strike="noStrike" baseline="0" dirty="0">
                <a:solidFill>
                  <a:srgbClr val="000000"/>
                </a:solidFill>
                <a:latin typeface="Courier New" panose="02070309020205020404" pitchFamily="49" charset="0"/>
              </a:rPr>
              <a:t>= imread(</a:t>
            </a:r>
            <a:r>
              <a:rPr lang="en-IN" b="0" i="0" u="none" strike="noStrike" baseline="0" dirty="0">
                <a:solidFill>
                  <a:srgbClr val="A020F0"/>
                </a:solidFill>
                <a:latin typeface="Courier New" panose="02070309020205020404" pitchFamily="49" charset="0"/>
              </a:rPr>
              <a:t>'Image.png'</a:t>
            </a:r>
            <a:r>
              <a:rPr lang="en-IN" b="0" i="0" u="none" strike="noStrike" baseline="0" dirty="0">
                <a:solidFill>
                  <a:srgbClr val="000000"/>
                </a:solidFill>
                <a:latin typeface="Courier New" panose="02070309020205020404" pitchFamily="49" charset="0"/>
              </a:rPr>
              <a:t>);</a:t>
            </a:r>
          </a:p>
          <a:p>
            <a:r>
              <a:rPr lang="en-IN" b="0" i="0" u="none" strike="noStrike" baseline="0" dirty="0">
                <a:solidFill>
                  <a:srgbClr val="228B22"/>
                </a:solidFill>
                <a:latin typeface="Courier New" panose="02070309020205020404" pitchFamily="49" charset="0"/>
              </a:rPr>
              <a:t>% RGB Adjustment</a:t>
            </a:r>
          </a:p>
          <a:p>
            <a:r>
              <a:rPr lang="en-US" b="0" i="0" u="none" strike="noStrike" baseline="0" dirty="0">
                <a:solidFill>
                  <a:srgbClr val="000000"/>
                </a:solidFill>
                <a:latin typeface="Courier New" panose="02070309020205020404" pitchFamily="49" charset="0"/>
              </a:rPr>
              <a:t>RGBadjust = imadjust(A, [118/255 82/255 0; 254/255 247/255 204/255],[]);</a:t>
            </a:r>
          </a:p>
          <a:p>
            <a:endParaRPr lang="en-US" b="0" i="0" u="none" strike="noStrike" baseline="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53537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63C54B-6E3A-9E02-33DE-885B56D168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026" y="962697"/>
            <a:ext cx="4499006" cy="4320000"/>
          </a:xfrm>
          <a:prstGeom prst="rect">
            <a:avLst/>
          </a:prstGeom>
        </p:spPr>
      </p:pic>
      <p:pic>
        <p:nvPicPr>
          <p:cNvPr id="8" name="Picture 7">
            <a:extLst>
              <a:ext uri="{FF2B5EF4-FFF2-40B4-BE49-F238E27FC236}">
                <a16:creationId xmlns:a16="http://schemas.microsoft.com/office/drawing/2014/main" id="{45CF8B16-6CBF-4F8E-B145-8E7907EF0F8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695090" y="962697"/>
            <a:ext cx="4496910" cy="4320000"/>
          </a:xfrm>
          <a:prstGeom prst="rect">
            <a:avLst/>
          </a:prstGeom>
        </p:spPr>
      </p:pic>
      <p:sp>
        <p:nvSpPr>
          <p:cNvPr id="9" name="Arrow: Right 8">
            <a:extLst>
              <a:ext uri="{FF2B5EF4-FFF2-40B4-BE49-F238E27FC236}">
                <a16:creationId xmlns:a16="http://schemas.microsoft.com/office/drawing/2014/main" id="{6B3D790A-5D13-7E1F-8658-D3F869733599}"/>
              </a:ext>
            </a:extLst>
          </p:cNvPr>
          <p:cNvSpPr/>
          <p:nvPr/>
        </p:nvSpPr>
        <p:spPr>
          <a:xfrm>
            <a:off x="5548544" y="2745396"/>
            <a:ext cx="1589103" cy="754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8882DA0-FE2A-EFC2-4DD5-0B1422C633A4}"/>
              </a:ext>
            </a:extLst>
          </p:cNvPr>
          <p:cNvSpPr txBox="1"/>
          <p:nvPr/>
        </p:nvSpPr>
        <p:spPr>
          <a:xfrm>
            <a:off x="1441494" y="5550063"/>
            <a:ext cx="2466069" cy="430887"/>
          </a:xfrm>
          <a:prstGeom prst="rect">
            <a:avLst/>
          </a:prstGeom>
          <a:noFill/>
          <a:ln>
            <a:noFill/>
          </a:ln>
        </p:spPr>
        <p:txBody>
          <a:bodyPr wrap="square" rtlCol="0">
            <a:spAutoFit/>
          </a:bodyPr>
          <a:lstStyle/>
          <a:p>
            <a:r>
              <a:rPr lang="en-US" sz="2200" dirty="0">
                <a:latin typeface="+mj-lt"/>
              </a:rPr>
              <a:t>Original Image</a:t>
            </a:r>
            <a:endParaRPr lang="en-IN" sz="2200" dirty="0">
              <a:latin typeface="+mj-lt"/>
            </a:endParaRPr>
          </a:p>
        </p:txBody>
      </p:sp>
      <p:sp>
        <p:nvSpPr>
          <p:cNvPr id="11" name="TextBox 10">
            <a:extLst>
              <a:ext uri="{FF2B5EF4-FFF2-40B4-BE49-F238E27FC236}">
                <a16:creationId xmlns:a16="http://schemas.microsoft.com/office/drawing/2014/main" id="{66D70B30-E8C1-C76C-6B3A-85FB7C1BF2AE}"/>
              </a:ext>
            </a:extLst>
          </p:cNvPr>
          <p:cNvSpPr txBox="1"/>
          <p:nvPr/>
        </p:nvSpPr>
        <p:spPr>
          <a:xfrm>
            <a:off x="8284439" y="5550062"/>
            <a:ext cx="3111971" cy="430887"/>
          </a:xfrm>
          <a:prstGeom prst="rect">
            <a:avLst/>
          </a:prstGeom>
          <a:noFill/>
          <a:ln>
            <a:noFill/>
          </a:ln>
        </p:spPr>
        <p:txBody>
          <a:bodyPr wrap="square" rtlCol="0">
            <a:spAutoFit/>
          </a:bodyPr>
          <a:lstStyle/>
          <a:p>
            <a:r>
              <a:rPr lang="en-US" sz="2200" dirty="0">
                <a:latin typeface="+mj-lt"/>
              </a:rPr>
              <a:t>After RGB Adjustment</a:t>
            </a:r>
            <a:endParaRPr lang="en-IN" sz="2200" dirty="0">
              <a:latin typeface="+mj-lt"/>
            </a:endParaRPr>
          </a:p>
        </p:txBody>
      </p:sp>
    </p:spTree>
    <p:extLst>
      <p:ext uri="{BB962C8B-B14F-4D97-AF65-F5344CB8AC3E}">
        <p14:creationId xmlns:p14="http://schemas.microsoft.com/office/powerpoint/2010/main" val="1822649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668365" y="603789"/>
            <a:ext cx="7556915" cy="727171"/>
          </a:xfrm>
          <a:noFill/>
          <a:ln>
            <a:noFill/>
          </a:ln>
        </p:spPr>
        <p:txBody>
          <a:bodyPr>
            <a:noAutofit/>
          </a:bodyPr>
          <a:lstStyle/>
          <a:p>
            <a:r>
              <a:rPr lang="en-US" sz="38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STEP 2: Color Processing</a:t>
            </a:r>
            <a:br>
              <a:rPr lang="en-US" dirty="0"/>
            </a:br>
            <a:endParaRPr lang="en-IN" dirty="0"/>
          </a:p>
        </p:txBody>
      </p:sp>
      <p:sp>
        <p:nvSpPr>
          <p:cNvPr id="3" name="Content Placeholder 2">
            <a:extLst>
              <a:ext uri="{FF2B5EF4-FFF2-40B4-BE49-F238E27FC236}">
                <a16:creationId xmlns:a16="http://schemas.microsoft.com/office/drawing/2014/main" id="{C4EF4598-F5E2-4F46-B6B4-6594ECC36226}"/>
              </a:ext>
            </a:extLst>
          </p:cNvPr>
          <p:cNvSpPr>
            <a:spLocks noGrp="1"/>
          </p:cNvSpPr>
          <p:nvPr>
            <p:ph idx="1"/>
          </p:nvPr>
        </p:nvSpPr>
        <p:spPr>
          <a:xfrm>
            <a:off x="1127025" y="1544320"/>
            <a:ext cx="11064975" cy="4785360"/>
          </a:xfrm>
        </p:spPr>
        <p:txBody>
          <a:bodyPr/>
          <a:lstStyle/>
          <a:p>
            <a:endParaRPr lang="en-US" sz="2000" dirty="0"/>
          </a:p>
          <a:p>
            <a:r>
              <a:rPr lang="en-US" sz="2000" dirty="0"/>
              <a:t>During Color Processing, the elimination of unrelated colors takes place and only yellow color of mango remains.</a:t>
            </a:r>
          </a:p>
          <a:p>
            <a:r>
              <a:rPr lang="en-US" sz="2000" b="0" i="0" dirty="0">
                <a:effectLst/>
              </a:rPr>
              <a:t>The elimination of the unrelated object in here are by comparing the current pixel RGB value with the default RGB value of mango. </a:t>
            </a:r>
          </a:p>
          <a:p>
            <a:r>
              <a:rPr lang="en-US" sz="2000" b="0" i="0" dirty="0">
                <a:effectLst/>
              </a:rPr>
              <a:t>If detected color is not related then change the current pixel RGB value to 0 which is in black color.</a:t>
            </a:r>
            <a:r>
              <a:rPr lang="en-US" sz="2000" dirty="0"/>
              <a:t> </a:t>
            </a:r>
          </a:p>
          <a:p>
            <a:r>
              <a:rPr lang="en-US" sz="2000" b="0" i="0" dirty="0">
                <a:effectLst/>
              </a:rPr>
              <a:t>After the color processing, the only left for the image is a clear mango and the leaves which have the same color as mangos.</a:t>
            </a:r>
            <a:br>
              <a:rPr lang="en-US" sz="2000" dirty="0"/>
            </a:br>
            <a:br>
              <a:rPr lang="en-US" sz="2000" dirty="0">
                <a:solidFill>
                  <a:schemeClr val="tx2">
                    <a:lumMod val="50000"/>
                  </a:schemeClr>
                </a:solidFill>
              </a:rPr>
            </a:br>
            <a:br>
              <a:rPr lang="en-US" sz="2000" dirty="0"/>
            </a:br>
            <a:endParaRPr lang="en-US" dirty="0">
              <a:solidFill>
                <a:schemeClr val="tx2">
                  <a:lumMod val="50000"/>
                </a:schemeClr>
              </a:solidFill>
            </a:endParaRPr>
          </a:p>
          <a:p>
            <a:endParaRPr lang="en-IN" dirty="0"/>
          </a:p>
        </p:txBody>
      </p:sp>
    </p:spTree>
    <p:extLst>
      <p:ext uri="{BB962C8B-B14F-4D97-AF65-F5344CB8AC3E}">
        <p14:creationId xmlns:p14="http://schemas.microsoft.com/office/powerpoint/2010/main" val="1990927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1FBA9D-0598-0190-2754-092F4A7F0075}"/>
              </a:ext>
            </a:extLst>
          </p:cNvPr>
          <p:cNvSpPr txBox="1"/>
          <p:nvPr/>
        </p:nvSpPr>
        <p:spPr>
          <a:xfrm>
            <a:off x="574088" y="474345"/>
            <a:ext cx="11043823" cy="5632311"/>
          </a:xfrm>
          <a:prstGeom prst="rect">
            <a:avLst/>
          </a:prstGeom>
          <a:solidFill>
            <a:schemeClr val="bg1"/>
          </a:solidFill>
          <a:ln>
            <a:noFill/>
          </a:ln>
        </p:spPr>
        <p:txBody>
          <a:bodyPr wrap="square" rtlCol="0">
            <a:spAutoFit/>
          </a:bodyPr>
          <a:lstStyle/>
          <a:p>
            <a:endParaRPr lang="en-IN" sz="1800" b="0" i="0" u="none" strike="noStrike" baseline="0" dirty="0">
              <a:solidFill>
                <a:srgbClr val="000000"/>
              </a:solidFill>
              <a:latin typeface="Courier New" panose="02070309020205020404" pitchFamily="49" charset="0"/>
            </a:endParaRPr>
          </a:p>
          <a:p>
            <a:r>
              <a:rPr lang="en-IN" sz="1800" b="0" i="0" u="none" strike="noStrike" baseline="0" dirty="0">
                <a:solidFill>
                  <a:srgbClr val="000000"/>
                </a:solidFill>
                <a:latin typeface="Courier New" panose="02070309020205020404" pitchFamily="49" charset="0"/>
              </a:rPr>
              <a:t>I = rgb2hsv(RGBadjust);</a:t>
            </a:r>
          </a:p>
          <a:p>
            <a:r>
              <a:rPr lang="en-US" sz="1800" b="0" i="0" u="none" strike="noStrike" baseline="0" dirty="0">
                <a:solidFill>
                  <a:srgbClr val="228B22"/>
                </a:solidFill>
                <a:latin typeface="Courier New" panose="02070309020205020404" pitchFamily="49" charset="0"/>
              </a:rPr>
              <a:t>% Define thresholds for 'Hue'.</a:t>
            </a:r>
          </a:p>
          <a:p>
            <a:r>
              <a:rPr lang="en-IN" sz="1800" b="0" i="0" u="none" strike="noStrike" baseline="0" dirty="0">
                <a:solidFill>
                  <a:srgbClr val="000000"/>
                </a:solidFill>
                <a:latin typeface="Courier New" panose="02070309020205020404" pitchFamily="49" charset="0"/>
              </a:rPr>
              <a:t>channel1Min = 0.965;</a:t>
            </a:r>
          </a:p>
          <a:p>
            <a:r>
              <a:rPr lang="en-IN" sz="1800" b="0" i="0" u="none" strike="noStrike" baseline="0" dirty="0">
                <a:solidFill>
                  <a:srgbClr val="000000"/>
                </a:solidFill>
                <a:latin typeface="Courier New" panose="02070309020205020404" pitchFamily="49" charset="0"/>
              </a:rPr>
              <a:t>channel1Max = 0.188;</a:t>
            </a:r>
          </a:p>
          <a:p>
            <a:r>
              <a:rPr lang="en-IN" sz="1800" b="0" i="0" u="none" strike="noStrike" baseline="0" dirty="0">
                <a:solidFill>
                  <a:srgbClr val="228B22"/>
                </a:solidFill>
                <a:latin typeface="Courier New" panose="02070309020205020404" pitchFamily="49" charset="0"/>
              </a:rPr>
              <a:t>% Define thresholds for 'Saturation'</a:t>
            </a:r>
          </a:p>
          <a:p>
            <a:r>
              <a:rPr lang="en-IN" sz="1800" b="0" i="0" u="none" strike="noStrike" baseline="0" dirty="0">
                <a:solidFill>
                  <a:srgbClr val="000000"/>
                </a:solidFill>
                <a:latin typeface="Courier New" panose="02070309020205020404" pitchFamily="49" charset="0"/>
              </a:rPr>
              <a:t>channel2Min = 0.000;</a:t>
            </a:r>
          </a:p>
          <a:p>
            <a:r>
              <a:rPr lang="en-IN" sz="1800" b="0" i="0" u="none" strike="noStrike" baseline="0" dirty="0">
                <a:solidFill>
                  <a:srgbClr val="000000"/>
                </a:solidFill>
                <a:latin typeface="Courier New" panose="02070309020205020404" pitchFamily="49" charset="0"/>
              </a:rPr>
              <a:t>channel2Max = 1.000;</a:t>
            </a:r>
          </a:p>
          <a:p>
            <a:r>
              <a:rPr lang="en-IN" sz="1800" b="0" i="0" u="none" strike="noStrike" baseline="0" dirty="0">
                <a:solidFill>
                  <a:srgbClr val="228B22"/>
                </a:solidFill>
                <a:latin typeface="Courier New" panose="02070309020205020404" pitchFamily="49" charset="0"/>
              </a:rPr>
              <a:t>% Define thresholds for 'Value'</a:t>
            </a:r>
          </a:p>
          <a:p>
            <a:r>
              <a:rPr lang="en-IN" sz="1800" b="0" i="0" u="none" strike="noStrike" baseline="0" dirty="0">
                <a:solidFill>
                  <a:srgbClr val="000000"/>
                </a:solidFill>
                <a:latin typeface="Courier New" panose="02070309020205020404" pitchFamily="49" charset="0"/>
              </a:rPr>
              <a:t>channel3Min = 0.000;</a:t>
            </a:r>
          </a:p>
          <a:p>
            <a:r>
              <a:rPr lang="en-IN" sz="1800" b="0" i="0" u="none" strike="noStrike" baseline="0" dirty="0">
                <a:solidFill>
                  <a:srgbClr val="000000"/>
                </a:solidFill>
                <a:latin typeface="Courier New" panose="02070309020205020404" pitchFamily="49" charset="0"/>
              </a:rPr>
              <a:t>channel3Max = 1.000;</a:t>
            </a:r>
          </a:p>
          <a:p>
            <a:r>
              <a:rPr lang="en-US" sz="1800" b="0" i="0" u="none" strike="noStrike" baseline="0" dirty="0">
                <a:solidFill>
                  <a:srgbClr val="228B22"/>
                </a:solidFill>
                <a:latin typeface="Courier New" panose="02070309020205020404" pitchFamily="49" charset="0"/>
              </a:rPr>
              <a:t>% Create mask based on chosen histogram thresholds</a:t>
            </a:r>
          </a:p>
          <a:p>
            <a:r>
              <a:rPr lang="en-IN" sz="1800" b="0" i="0" u="none" strike="noStrike" baseline="0" dirty="0">
                <a:solidFill>
                  <a:srgbClr val="000000"/>
                </a:solidFill>
                <a:latin typeface="Courier New" panose="02070309020205020404" pitchFamily="49" charset="0"/>
              </a:rPr>
              <a:t>BW = ( (I(:,:,1) &gt;= channel1Min) | (I(:,:,1) &lt;= channel1Max) ) &amp; </a:t>
            </a:r>
            <a:r>
              <a:rPr lang="en-IN" sz="1800" b="0" i="0" u="none" strike="noStrike" baseline="0" dirty="0">
                <a:solidFill>
                  <a:srgbClr val="0000FF"/>
                </a:solidFill>
                <a:latin typeface="Courier New" panose="02070309020205020404" pitchFamily="49" charset="0"/>
              </a:rPr>
              <a:t>...</a:t>
            </a:r>
          </a:p>
          <a:p>
            <a:r>
              <a:rPr lang="en-IN" sz="1800" b="0" i="0" u="none" strike="noStrike" baseline="0" dirty="0">
                <a:solidFill>
                  <a:srgbClr val="000000"/>
                </a:solidFill>
                <a:latin typeface="Courier New" panose="02070309020205020404" pitchFamily="49" charset="0"/>
              </a:rPr>
              <a:t>    (I(:,:,2) &gt;= channel2Min ) &amp; (I(:,:,2) &lt;= channel2Max) &amp; </a:t>
            </a:r>
            <a:r>
              <a:rPr lang="en-IN" sz="1800" b="0" i="0" u="none" strike="noStrike" baseline="0" dirty="0">
                <a:solidFill>
                  <a:srgbClr val="0000FF"/>
                </a:solidFill>
                <a:latin typeface="Courier New" panose="02070309020205020404" pitchFamily="49" charset="0"/>
              </a:rPr>
              <a:t>...</a:t>
            </a:r>
          </a:p>
          <a:p>
            <a:r>
              <a:rPr lang="en-IN" sz="1800" b="0" i="0" u="none" strike="noStrike" baseline="0" dirty="0">
                <a:solidFill>
                  <a:srgbClr val="000000"/>
                </a:solidFill>
                <a:latin typeface="Courier New" panose="02070309020205020404" pitchFamily="49" charset="0"/>
              </a:rPr>
              <a:t>    (I(:,:,3) &gt;= channel3Min ) &amp; (I(:,:,3) &lt;= channel3Max);</a:t>
            </a:r>
          </a:p>
          <a:p>
            <a:r>
              <a:rPr lang="en-US" sz="1800" b="0" i="0" u="none" strike="noStrike" baseline="0" dirty="0">
                <a:solidFill>
                  <a:srgbClr val="228B22"/>
                </a:solidFill>
                <a:latin typeface="Courier New" panose="02070309020205020404" pitchFamily="49" charset="0"/>
              </a:rPr>
              <a:t>% Initialize output masked image based on input image.</a:t>
            </a:r>
          </a:p>
          <a:p>
            <a:r>
              <a:rPr lang="en-IN" sz="1800" b="0" i="0" u="none" strike="noStrike" baseline="0" dirty="0">
                <a:solidFill>
                  <a:srgbClr val="000000"/>
                </a:solidFill>
                <a:latin typeface="Courier New" panose="02070309020205020404" pitchFamily="49" charset="0"/>
              </a:rPr>
              <a:t>maskedRGBImage = RGBadjust;</a:t>
            </a:r>
          </a:p>
          <a:p>
            <a:r>
              <a:rPr lang="en-US" sz="1800" b="0" i="0" u="none" strike="noStrike" baseline="0" dirty="0">
                <a:solidFill>
                  <a:srgbClr val="228B22"/>
                </a:solidFill>
                <a:latin typeface="Courier New" panose="02070309020205020404" pitchFamily="49" charset="0"/>
              </a:rPr>
              <a:t>% Set background pixels where BW is false to zero.</a:t>
            </a:r>
          </a:p>
          <a:p>
            <a:r>
              <a:rPr lang="en-IN" sz="1800" b="0" i="0" u="none" strike="noStrike" baseline="0" dirty="0">
                <a:solidFill>
                  <a:srgbClr val="000000"/>
                </a:solidFill>
                <a:latin typeface="Courier New" panose="02070309020205020404" pitchFamily="49" charset="0"/>
              </a:rPr>
              <a:t>maskedRGBImage(repmat(~BW,[1 1 3])) = 0;</a:t>
            </a:r>
          </a:p>
          <a:p>
            <a:endParaRPr lang="en-IN" sz="1800" b="0" i="0" u="none" strike="noStrike" baseline="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697129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C75D52-7C15-BCD7-046A-D6E743679CE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05229" y="1097532"/>
            <a:ext cx="4497849" cy="4320000"/>
          </a:xfrm>
          <a:prstGeom prst="rect">
            <a:avLst/>
          </a:prstGeom>
        </p:spPr>
      </p:pic>
      <p:pic>
        <p:nvPicPr>
          <p:cNvPr id="7" name="Picture 6">
            <a:extLst>
              <a:ext uri="{FF2B5EF4-FFF2-40B4-BE49-F238E27FC236}">
                <a16:creationId xmlns:a16="http://schemas.microsoft.com/office/drawing/2014/main" id="{E4B5E86F-B982-46EB-C280-EC23CFB4E6D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48743" y="1097532"/>
            <a:ext cx="4496911" cy="4320000"/>
          </a:xfrm>
          <a:prstGeom prst="rect">
            <a:avLst/>
          </a:prstGeom>
        </p:spPr>
      </p:pic>
      <p:sp>
        <p:nvSpPr>
          <p:cNvPr id="8" name="TextBox 7">
            <a:extLst>
              <a:ext uri="{FF2B5EF4-FFF2-40B4-BE49-F238E27FC236}">
                <a16:creationId xmlns:a16="http://schemas.microsoft.com/office/drawing/2014/main" id="{D2958614-3647-5AEF-192C-B6B693F5F431}"/>
              </a:ext>
            </a:extLst>
          </p:cNvPr>
          <p:cNvSpPr txBox="1"/>
          <p:nvPr/>
        </p:nvSpPr>
        <p:spPr>
          <a:xfrm>
            <a:off x="2495122" y="5855395"/>
            <a:ext cx="2466069" cy="430887"/>
          </a:xfrm>
          <a:prstGeom prst="rect">
            <a:avLst/>
          </a:prstGeom>
          <a:noFill/>
          <a:ln>
            <a:noFill/>
          </a:ln>
        </p:spPr>
        <p:txBody>
          <a:bodyPr wrap="square" rtlCol="0">
            <a:spAutoFit/>
          </a:bodyPr>
          <a:lstStyle/>
          <a:p>
            <a:r>
              <a:rPr lang="en-US" sz="2200" dirty="0">
                <a:latin typeface="+mj-lt"/>
              </a:rPr>
              <a:t>Mask</a:t>
            </a:r>
            <a:endParaRPr lang="en-IN" sz="2200" dirty="0">
              <a:latin typeface="+mj-lt"/>
            </a:endParaRPr>
          </a:p>
        </p:txBody>
      </p:sp>
      <p:sp>
        <p:nvSpPr>
          <p:cNvPr id="9" name="TextBox 8">
            <a:extLst>
              <a:ext uri="{FF2B5EF4-FFF2-40B4-BE49-F238E27FC236}">
                <a16:creationId xmlns:a16="http://schemas.microsoft.com/office/drawing/2014/main" id="{12AF19D7-C2D9-B5E9-64E4-F796000AF69D}"/>
              </a:ext>
            </a:extLst>
          </p:cNvPr>
          <p:cNvSpPr txBox="1"/>
          <p:nvPr/>
        </p:nvSpPr>
        <p:spPr>
          <a:xfrm>
            <a:off x="8244951" y="5855394"/>
            <a:ext cx="3178205" cy="430887"/>
          </a:xfrm>
          <a:prstGeom prst="rect">
            <a:avLst/>
          </a:prstGeom>
          <a:noFill/>
          <a:ln>
            <a:noFill/>
          </a:ln>
        </p:spPr>
        <p:txBody>
          <a:bodyPr wrap="square" rtlCol="0">
            <a:spAutoFit/>
          </a:bodyPr>
          <a:lstStyle/>
          <a:p>
            <a:r>
              <a:rPr lang="en-US" sz="2200" dirty="0">
                <a:latin typeface="+mj-lt"/>
              </a:rPr>
              <a:t>Masked RGB Image</a:t>
            </a:r>
            <a:endParaRPr lang="en-IN" sz="2200" dirty="0">
              <a:latin typeface="+mj-lt"/>
            </a:endParaRPr>
          </a:p>
        </p:txBody>
      </p:sp>
    </p:spTree>
    <p:extLst>
      <p:ext uri="{BB962C8B-B14F-4D97-AF65-F5344CB8AC3E}">
        <p14:creationId xmlns:p14="http://schemas.microsoft.com/office/powerpoint/2010/main" val="2730693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659487" y="603789"/>
            <a:ext cx="10893538" cy="727171"/>
          </a:xfrm>
          <a:noFill/>
          <a:ln>
            <a:noFill/>
          </a:ln>
        </p:spPr>
        <p:txBody>
          <a:bodyPr>
            <a:noAutofit/>
          </a:bodyPr>
          <a:lstStyle/>
          <a:p>
            <a:r>
              <a:rPr lang="en-US" sz="38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STEP 3: Gray-Scaling, Filtering &amp; Enhancing</a:t>
            </a:r>
            <a:br>
              <a:rPr lang="en-US" dirty="0"/>
            </a:br>
            <a:endParaRPr lang="en-IN" dirty="0"/>
          </a:p>
        </p:txBody>
      </p:sp>
      <p:sp>
        <p:nvSpPr>
          <p:cNvPr id="3" name="Content Placeholder 2">
            <a:extLst>
              <a:ext uri="{FF2B5EF4-FFF2-40B4-BE49-F238E27FC236}">
                <a16:creationId xmlns:a16="http://schemas.microsoft.com/office/drawing/2014/main" id="{C4EF4598-F5E2-4F46-B6B4-6594ECC36226}"/>
              </a:ext>
            </a:extLst>
          </p:cNvPr>
          <p:cNvSpPr>
            <a:spLocks noGrp="1"/>
          </p:cNvSpPr>
          <p:nvPr>
            <p:ph idx="1"/>
          </p:nvPr>
        </p:nvSpPr>
        <p:spPr>
          <a:xfrm>
            <a:off x="813273" y="1722098"/>
            <a:ext cx="11064975" cy="2760980"/>
          </a:xfrm>
        </p:spPr>
        <p:txBody>
          <a:bodyPr>
            <a:normAutofit lnSpcReduction="10000"/>
          </a:bodyPr>
          <a:lstStyle/>
          <a:p>
            <a:endParaRPr lang="en-US" sz="2000" dirty="0"/>
          </a:p>
          <a:p>
            <a:r>
              <a:rPr lang="en-US" sz="2000" dirty="0"/>
              <a:t>Now the Image </a:t>
            </a:r>
            <a:r>
              <a:rPr lang="en-US" sz="2000" b="0" i="0" dirty="0">
                <a:effectLst/>
              </a:rPr>
              <a:t>must be change to gray scale, perform medium filter to eliminate the small pixel and smoothing the image. </a:t>
            </a:r>
          </a:p>
          <a:p>
            <a:r>
              <a:rPr lang="en-US" sz="2000" b="0" i="0" dirty="0">
                <a:effectLst/>
              </a:rPr>
              <a:t>In the medium filter, it will eliminate the pixel which is small and smoothing the images to make the objects edge more clear and clean.</a:t>
            </a:r>
          </a:p>
          <a:p>
            <a:r>
              <a:rPr lang="en-US" sz="2000" b="0" i="0" dirty="0">
                <a:effectLst/>
              </a:rPr>
              <a:t> After that, it will be change to binary image and go through another object elimination that eliminate the binary objects which is lesser than 200 pixels in a group of objects.</a:t>
            </a:r>
            <a:r>
              <a:rPr lang="en-US" sz="2000" dirty="0"/>
              <a:t> </a:t>
            </a:r>
          </a:p>
          <a:p>
            <a:endParaRPr lang="en-IN" dirty="0"/>
          </a:p>
        </p:txBody>
      </p:sp>
    </p:spTree>
    <p:extLst>
      <p:ext uri="{BB962C8B-B14F-4D97-AF65-F5344CB8AC3E}">
        <p14:creationId xmlns:p14="http://schemas.microsoft.com/office/powerpoint/2010/main" val="2465367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8DB601-D3F6-2917-07A7-5F2A81B6E240}"/>
              </a:ext>
            </a:extLst>
          </p:cNvPr>
          <p:cNvSpPr txBox="1"/>
          <p:nvPr/>
        </p:nvSpPr>
        <p:spPr>
          <a:xfrm>
            <a:off x="935831" y="1017787"/>
            <a:ext cx="10320338" cy="4247317"/>
          </a:xfrm>
          <a:prstGeom prst="rect">
            <a:avLst/>
          </a:prstGeom>
          <a:solidFill>
            <a:schemeClr val="bg1"/>
          </a:solidFill>
          <a:ln>
            <a:noFill/>
          </a:ln>
        </p:spPr>
        <p:txBody>
          <a:bodyPr wrap="square" rtlCol="0">
            <a:spAutoFit/>
          </a:bodyPr>
          <a:lstStyle/>
          <a:p>
            <a:endParaRPr lang="en-IN" sz="1800" b="0" i="0" u="none" strike="noStrike" baseline="0" dirty="0">
              <a:solidFill>
                <a:srgbClr val="228B22"/>
              </a:solidFill>
              <a:latin typeface="Courier New" panose="02070309020205020404" pitchFamily="49" charset="0"/>
            </a:endParaRPr>
          </a:p>
          <a:p>
            <a:r>
              <a:rPr lang="en-IN" sz="1800" b="0" i="0" u="none" strike="noStrike" baseline="0" dirty="0">
                <a:solidFill>
                  <a:srgbClr val="228B22"/>
                </a:solidFill>
                <a:latin typeface="Courier New" panose="02070309020205020404" pitchFamily="49" charset="0"/>
              </a:rPr>
              <a:t>% Grayscaling the Image</a:t>
            </a:r>
          </a:p>
          <a:p>
            <a:r>
              <a:rPr lang="en-IN" sz="1800" b="0" i="0" u="none" strike="noStrike" baseline="0" dirty="0">
                <a:solidFill>
                  <a:srgbClr val="000000"/>
                </a:solidFill>
                <a:latin typeface="Courier New" panose="02070309020205020404" pitchFamily="49" charset="0"/>
              </a:rPr>
              <a:t>Gray = rgb2gray(maskedRGBImage);</a:t>
            </a:r>
          </a:p>
          <a:p>
            <a:r>
              <a:rPr lang="en-IN" sz="1800" b="0" i="0" u="none" strike="noStrike" baseline="0" dirty="0">
                <a:solidFill>
                  <a:srgbClr val="228B22"/>
                </a:solidFill>
                <a:latin typeface="Courier New" panose="02070309020205020404" pitchFamily="49" charset="0"/>
              </a:rPr>
              <a:t>% Medium Filter</a:t>
            </a:r>
          </a:p>
          <a:p>
            <a:r>
              <a:rPr lang="en-IN" sz="1800" b="0" i="0" u="none" strike="noStrike" baseline="0" dirty="0">
                <a:solidFill>
                  <a:srgbClr val="000000"/>
                </a:solidFill>
                <a:latin typeface="Courier New" panose="02070309020205020404" pitchFamily="49" charset="0"/>
              </a:rPr>
              <a:t>filteredImg = medfilt2(Gray);</a:t>
            </a:r>
          </a:p>
          <a:p>
            <a:r>
              <a:rPr lang="en-IN" sz="1800" b="0" i="0" u="none" strike="noStrike" baseline="0" dirty="0">
                <a:solidFill>
                  <a:srgbClr val="000000"/>
                </a:solidFill>
                <a:latin typeface="Courier New" panose="02070309020205020404" pitchFamily="49" charset="0"/>
              </a:rPr>
              <a:t>threshold = graythresh(filteredImg);</a:t>
            </a:r>
          </a:p>
          <a:p>
            <a:r>
              <a:rPr lang="en-IN" sz="1800" b="0" i="0" u="none" strike="noStrike" baseline="0" dirty="0">
                <a:solidFill>
                  <a:srgbClr val="000000"/>
                </a:solidFill>
                <a:latin typeface="Courier New" panose="02070309020205020404" pitchFamily="49" charset="0"/>
              </a:rPr>
              <a:t>binaryImg = im2bw(filteredImg,threshold);</a:t>
            </a:r>
          </a:p>
          <a:p>
            <a:r>
              <a:rPr lang="en-IN" sz="1800" b="0" i="0" u="none" strike="noStrike" baseline="0" dirty="0">
                <a:solidFill>
                  <a:srgbClr val="228B22"/>
                </a:solidFill>
                <a:latin typeface="Courier New" panose="02070309020205020404" pitchFamily="49" charset="0"/>
              </a:rPr>
              <a:t>% Eliminating Objects under 200px</a:t>
            </a:r>
          </a:p>
          <a:p>
            <a:r>
              <a:rPr lang="en-IN" sz="1800" b="0" i="0" u="none" strike="noStrike" baseline="0" dirty="0">
                <a:solidFill>
                  <a:srgbClr val="000000"/>
                </a:solidFill>
                <a:latin typeface="Courier New" panose="02070309020205020404" pitchFamily="49" charset="0"/>
              </a:rPr>
              <a:t>binaryImg = bwareaopen(binaryImg, 200);</a:t>
            </a:r>
          </a:p>
          <a:p>
            <a:r>
              <a:rPr lang="en-US" sz="1800" b="0" i="0" u="none" strike="noStrike" baseline="0" dirty="0">
                <a:solidFill>
                  <a:srgbClr val="228B22"/>
                </a:solidFill>
                <a:latin typeface="Courier New" panose="02070309020205020404" pitchFamily="49" charset="0"/>
              </a:rPr>
              <a:t>% Perform morphological operations to enhance the binary image</a:t>
            </a:r>
          </a:p>
          <a:p>
            <a:r>
              <a:rPr lang="en-IN" sz="1800" b="0" i="0" u="none" strike="noStrike" baseline="0" dirty="0">
                <a:solidFill>
                  <a:srgbClr val="000000"/>
                </a:solidFill>
                <a:latin typeface="Courier New" panose="02070309020205020404" pitchFamily="49" charset="0"/>
              </a:rPr>
              <a:t>se = strel(</a:t>
            </a:r>
            <a:r>
              <a:rPr lang="en-IN" sz="1800" b="0" i="0" u="none" strike="noStrike" baseline="0" dirty="0">
                <a:solidFill>
                  <a:srgbClr val="A020F0"/>
                </a:solidFill>
                <a:latin typeface="Courier New" panose="02070309020205020404" pitchFamily="49" charset="0"/>
              </a:rPr>
              <a:t>'disk'</a:t>
            </a:r>
            <a:r>
              <a:rPr lang="en-IN" sz="1800" b="0" i="0" u="none" strike="noStrike" baseline="0" dirty="0">
                <a:solidFill>
                  <a:srgbClr val="000000"/>
                </a:solidFill>
                <a:latin typeface="Courier New" panose="02070309020205020404" pitchFamily="49" charset="0"/>
              </a:rPr>
              <a:t>, 10);</a:t>
            </a:r>
          </a:p>
          <a:p>
            <a:r>
              <a:rPr lang="en-IN" sz="1800" b="0" i="0" u="none" strike="noStrike" baseline="0" dirty="0">
                <a:solidFill>
                  <a:srgbClr val="000000"/>
                </a:solidFill>
                <a:latin typeface="Courier New" panose="02070309020205020404" pitchFamily="49" charset="0"/>
              </a:rPr>
              <a:t>binaryImg = imclose(binaryImg, se);</a:t>
            </a:r>
          </a:p>
          <a:p>
            <a:r>
              <a:rPr lang="en-IN" sz="1800" b="0" i="0" u="none" strike="noStrike" baseline="0" dirty="0">
                <a:solidFill>
                  <a:srgbClr val="000000"/>
                </a:solidFill>
                <a:latin typeface="Courier New" panose="02070309020205020404" pitchFamily="49" charset="0"/>
              </a:rPr>
              <a:t>binaryImg = imfill(binaryImg, </a:t>
            </a:r>
            <a:r>
              <a:rPr lang="en-IN" sz="1800" b="0" i="0" u="none" strike="noStrike" baseline="0" dirty="0">
                <a:solidFill>
                  <a:srgbClr val="A020F0"/>
                </a:solidFill>
                <a:latin typeface="Courier New" panose="02070309020205020404" pitchFamily="49" charset="0"/>
              </a:rPr>
              <a:t>'holes'</a:t>
            </a:r>
            <a:r>
              <a:rPr lang="en-IN" sz="1800" b="0" i="0" u="none" strike="noStrike" baseline="0" dirty="0">
                <a:solidFill>
                  <a:srgbClr val="000000"/>
                </a:solidFill>
                <a:latin typeface="Courier New" panose="02070309020205020404" pitchFamily="49" charset="0"/>
              </a:rPr>
              <a:t>);</a:t>
            </a:r>
          </a:p>
          <a:p>
            <a:r>
              <a:rPr lang="en-IN" sz="1800" b="0" i="0" u="none" strike="noStrike" baseline="0" dirty="0">
                <a:solidFill>
                  <a:srgbClr val="000000"/>
                </a:solidFill>
                <a:latin typeface="Courier New" panose="02070309020205020404" pitchFamily="49" charset="0"/>
              </a:rPr>
              <a:t>binaryImg = imopen(binaryImg, se);</a:t>
            </a:r>
          </a:p>
          <a:p>
            <a:endParaRPr lang="en-IN" sz="1800" b="0" i="0" u="none" strike="noStrike" baseline="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55471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97BAEB-42B2-95E0-F12D-311D361019D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02187" y="833994"/>
            <a:ext cx="4515061" cy="4320000"/>
          </a:xfrm>
          <a:prstGeom prst="rect">
            <a:avLst/>
          </a:prstGeom>
        </p:spPr>
      </p:pic>
      <p:sp>
        <p:nvSpPr>
          <p:cNvPr id="8" name="TextBox 7">
            <a:extLst>
              <a:ext uri="{FF2B5EF4-FFF2-40B4-BE49-F238E27FC236}">
                <a16:creationId xmlns:a16="http://schemas.microsoft.com/office/drawing/2014/main" id="{B2CEC8A6-2677-52BE-215B-8B091119CCA9}"/>
              </a:ext>
            </a:extLst>
          </p:cNvPr>
          <p:cNvSpPr txBox="1"/>
          <p:nvPr/>
        </p:nvSpPr>
        <p:spPr>
          <a:xfrm>
            <a:off x="1826262" y="5691942"/>
            <a:ext cx="2818336" cy="430887"/>
          </a:xfrm>
          <a:prstGeom prst="rect">
            <a:avLst/>
          </a:prstGeom>
          <a:noFill/>
          <a:ln>
            <a:noFill/>
          </a:ln>
        </p:spPr>
        <p:txBody>
          <a:bodyPr wrap="square" rtlCol="0">
            <a:spAutoFit/>
          </a:bodyPr>
          <a:lstStyle/>
          <a:p>
            <a:r>
              <a:rPr lang="en-US" sz="2200" dirty="0">
                <a:latin typeface="+mj-lt"/>
              </a:rPr>
              <a:t>Grayscaled Image</a:t>
            </a:r>
            <a:endParaRPr lang="en-IN" sz="2200" dirty="0">
              <a:latin typeface="+mj-lt"/>
            </a:endParaRPr>
          </a:p>
        </p:txBody>
      </p:sp>
      <p:pic>
        <p:nvPicPr>
          <p:cNvPr id="10" name="Picture 9">
            <a:extLst>
              <a:ext uri="{FF2B5EF4-FFF2-40B4-BE49-F238E27FC236}">
                <a16:creationId xmlns:a16="http://schemas.microsoft.com/office/drawing/2014/main" id="{CAE418B0-B56E-E4BA-3E96-F9003FE114F6}"/>
              </a:ext>
            </a:extLst>
          </p:cNvPr>
          <p:cNvPicPr>
            <a:picLocks noChangeAspect="1"/>
          </p:cNvPicPr>
          <p:nvPr/>
        </p:nvPicPr>
        <p:blipFill>
          <a:blip r:embed="rId3"/>
          <a:stretch>
            <a:fillRect/>
          </a:stretch>
        </p:blipFill>
        <p:spPr>
          <a:xfrm>
            <a:off x="7241029" y="833994"/>
            <a:ext cx="4532554" cy="4320000"/>
          </a:xfrm>
          <a:prstGeom prst="rect">
            <a:avLst/>
          </a:prstGeom>
        </p:spPr>
      </p:pic>
      <p:sp>
        <p:nvSpPr>
          <p:cNvPr id="11" name="TextBox 10">
            <a:extLst>
              <a:ext uri="{FF2B5EF4-FFF2-40B4-BE49-F238E27FC236}">
                <a16:creationId xmlns:a16="http://schemas.microsoft.com/office/drawing/2014/main" id="{1EDD91CD-B8DA-41F8-7813-DFE2391D0859}"/>
              </a:ext>
            </a:extLst>
          </p:cNvPr>
          <p:cNvSpPr txBox="1"/>
          <p:nvPr/>
        </p:nvSpPr>
        <p:spPr>
          <a:xfrm>
            <a:off x="8401389" y="5476498"/>
            <a:ext cx="2211834" cy="430887"/>
          </a:xfrm>
          <a:prstGeom prst="rect">
            <a:avLst/>
          </a:prstGeom>
          <a:noFill/>
          <a:ln>
            <a:noFill/>
          </a:ln>
        </p:spPr>
        <p:txBody>
          <a:bodyPr wrap="square" rtlCol="0">
            <a:spAutoFit/>
          </a:bodyPr>
          <a:lstStyle/>
          <a:p>
            <a:r>
              <a:rPr lang="en-US" sz="2200" dirty="0">
                <a:latin typeface="+mj-lt"/>
              </a:rPr>
              <a:t>Binary Image</a:t>
            </a:r>
            <a:endParaRPr lang="en-IN" sz="2200" dirty="0">
              <a:latin typeface="+mj-lt"/>
            </a:endParaRPr>
          </a:p>
        </p:txBody>
      </p:sp>
    </p:spTree>
    <p:extLst>
      <p:ext uri="{BB962C8B-B14F-4D97-AF65-F5344CB8AC3E}">
        <p14:creationId xmlns:p14="http://schemas.microsoft.com/office/powerpoint/2010/main" val="1513855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036BC9-8EFF-A3C4-4702-770941A4378C}"/>
              </a:ext>
            </a:extLst>
          </p:cNvPr>
          <p:cNvPicPr>
            <a:picLocks noChangeAspect="1"/>
          </p:cNvPicPr>
          <p:nvPr/>
        </p:nvPicPr>
        <p:blipFill>
          <a:blip r:embed="rId2"/>
          <a:stretch>
            <a:fillRect/>
          </a:stretch>
        </p:blipFill>
        <p:spPr>
          <a:xfrm>
            <a:off x="700566" y="656983"/>
            <a:ext cx="4520532" cy="4320000"/>
          </a:xfrm>
          <a:prstGeom prst="rect">
            <a:avLst/>
          </a:prstGeom>
        </p:spPr>
      </p:pic>
      <p:sp>
        <p:nvSpPr>
          <p:cNvPr id="5" name="TextBox 4">
            <a:extLst>
              <a:ext uri="{FF2B5EF4-FFF2-40B4-BE49-F238E27FC236}">
                <a16:creationId xmlns:a16="http://schemas.microsoft.com/office/drawing/2014/main" id="{E57F35D5-9DAE-2880-1CAA-D967998334F7}"/>
              </a:ext>
            </a:extLst>
          </p:cNvPr>
          <p:cNvSpPr txBox="1"/>
          <p:nvPr/>
        </p:nvSpPr>
        <p:spPr>
          <a:xfrm>
            <a:off x="700566" y="5205907"/>
            <a:ext cx="4670424" cy="769441"/>
          </a:xfrm>
          <a:prstGeom prst="rect">
            <a:avLst/>
          </a:prstGeom>
          <a:noFill/>
          <a:ln>
            <a:noFill/>
          </a:ln>
        </p:spPr>
        <p:txBody>
          <a:bodyPr wrap="square" rtlCol="0">
            <a:spAutoFit/>
          </a:bodyPr>
          <a:lstStyle/>
          <a:p>
            <a:r>
              <a:rPr lang="en-US" sz="2200" dirty="0">
                <a:latin typeface="+mj-lt"/>
              </a:rPr>
              <a:t>Eliminating Binary Objects under 				200px</a:t>
            </a:r>
            <a:endParaRPr lang="en-IN" sz="2200" dirty="0">
              <a:latin typeface="+mj-lt"/>
            </a:endParaRPr>
          </a:p>
        </p:txBody>
      </p:sp>
      <p:pic>
        <p:nvPicPr>
          <p:cNvPr id="7" name="Picture 6">
            <a:extLst>
              <a:ext uri="{FF2B5EF4-FFF2-40B4-BE49-F238E27FC236}">
                <a16:creationId xmlns:a16="http://schemas.microsoft.com/office/drawing/2014/main" id="{DF22800E-6AAD-D0B9-1E61-C0BEA84DC77A}"/>
              </a:ext>
            </a:extLst>
          </p:cNvPr>
          <p:cNvPicPr>
            <a:picLocks noChangeAspect="1"/>
          </p:cNvPicPr>
          <p:nvPr/>
        </p:nvPicPr>
        <p:blipFill>
          <a:blip r:embed="rId3"/>
          <a:stretch>
            <a:fillRect/>
          </a:stretch>
        </p:blipFill>
        <p:spPr>
          <a:xfrm>
            <a:off x="7244889" y="656983"/>
            <a:ext cx="4508571" cy="4320000"/>
          </a:xfrm>
          <a:prstGeom prst="rect">
            <a:avLst/>
          </a:prstGeom>
        </p:spPr>
      </p:pic>
      <p:sp>
        <p:nvSpPr>
          <p:cNvPr id="8" name="TextBox 7">
            <a:extLst>
              <a:ext uri="{FF2B5EF4-FFF2-40B4-BE49-F238E27FC236}">
                <a16:creationId xmlns:a16="http://schemas.microsoft.com/office/drawing/2014/main" id="{CCEE19CE-1A1E-5E53-0C02-7CE1E88F4344}"/>
              </a:ext>
            </a:extLst>
          </p:cNvPr>
          <p:cNvSpPr txBox="1"/>
          <p:nvPr/>
        </p:nvSpPr>
        <p:spPr>
          <a:xfrm>
            <a:off x="7896819" y="5205907"/>
            <a:ext cx="3674645" cy="430887"/>
          </a:xfrm>
          <a:prstGeom prst="rect">
            <a:avLst/>
          </a:prstGeom>
          <a:noFill/>
          <a:ln>
            <a:noFill/>
          </a:ln>
        </p:spPr>
        <p:txBody>
          <a:bodyPr wrap="square" rtlCol="0">
            <a:spAutoFit/>
          </a:bodyPr>
          <a:lstStyle/>
          <a:p>
            <a:r>
              <a:rPr lang="en-US" sz="2200" dirty="0">
                <a:latin typeface="+mj-lt"/>
              </a:rPr>
              <a:t>Enhancing Binary Image</a:t>
            </a:r>
            <a:endParaRPr lang="en-IN" sz="2200" dirty="0">
              <a:latin typeface="+mj-lt"/>
            </a:endParaRPr>
          </a:p>
        </p:txBody>
      </p:sp>
    </p:spTree>
    <p:extLst>
      <p:ext uri="{BB962C8B-B14F-4D97-AF65-F5344CB8AC3E}">
        <p14:creationId xmlns:p14="http://schemas.microsoft.com/office/powerpoint/2010/main" val="196293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07E7E-A2F7-665F-5CBD-D1CD96B0E2B1}"/>
              </a:ext>
            </a:extLst>
          </p:cNvPr>
          <p:cNvSpPr>
            <a:spLocks noGrp="1"/>
          </p:cNvSpPr>
          <p:nvPr>
            <p:ph type="title"/>
          </p:nvPr>
        </p:nvSpPr>
        <p:spPr>
          <a:xfrm>
            <a:off x="1668365" y="603789"/>
            <a:ext cx="10982315" cy="727171"/>
          </a:xfrm>
          <a:noFill/>
          <a:ln>
            <a:noFill/>
          </a:ln>
        </p:spPr>
        <p:txBody>
          <a:bodyPr>
            <a:noAutofit/>
          </a:bodyPr>
          <a:lstStyle/>
          <a:p>
            <a:r>
              <a:rPr lang="en-US" sz="3800" b="1" dirty="0">
                <a:ln w="13462">
                  <a:solidFill>
                    <a:schemeClr val="bg1"/>
                  </a:solidFill>
                  <a:prstDash val="solid"/>
                </a:ln>
                <a:solidFill>
                  <a:schemeClr val="bg2">
                    <a:lumMod val="10000"/>
                  </a:schemeClr>
                </a:solidFill>
                <a:effectLst>
                  <a:glow rad="63500">
                    <a:schemeClr val="accent2">
                      <a:satMod val="175000"/>
                      <a:alpha val="40000"/>
                    </a:schemeClr>
                  </a:glow>
                  <a:outerShdw dist="38100" dir="2700000" algn="bl" rotWithShape="0">
                    <a:schemeClr val="accent5"/>
                  </a:outerShdw>
                </a:effectLst>
              </a:rPr>
              <a:t>STEP 4: Blob Analysis &amp; Counting Objects</a:t>
            </a:r>
            <a:br>
              <a:rPr lang="en-US" dirty="0"/>
            </a:br>
            <a:endParaRPr lang="en-IN" dirty="0"/>
          </a:p>
        </p:txBody>
      </p:sp>
      <p:sp>
        <p:nvSpPr>
          <p:cNvPr id="4" name="Content Placeholder 2">
            <a:extLst>
              <a:ext uri="{FF2B5EF4-FFF2-40B4-BE49-F238E27FC236}">
                <a16:creationId xmlns:a16="http://schemas.microsoft.com/office/drawing/2014/main" id="{E93777E5-E798-67FB-6144-47FB2485345E}"/>
              </a:ext>
            </a:extLst>
          </p:cNvPr>
          <p:cNvSpPr>
            <a:spLocks noGrp="1"/>
          </p:cNvSpPr>
          <p:nvPr>
            <p:ph idx="1"/>
          </p:nvPr>
        </p:nvSpPr>
        <p:spPr>
          <a:xfrm>
            <a:off x="816307" y="1810649"/>
            <a:ext cx="11064975" cy="3959836"/>
          </a:xfrm>
        </p:spPr>
        <p:txBody>
          <a:bodyPr>
            <a:normAutofit/>
          </a:bodyPr>
          <a:lstStyle/>
          <a:p>
            <a:endParaRPr lang="en-US" sz="2000" dirty="0"/>
          </a:p>
          <a:p>
            <a:r>
              <a:rPr lang="en-US" sz="2000" i="1" dirty="0"/>
              <a:t>Blob Analysis</a:t>
            </a:r>
            <a:r>
              <a:rPr lang="en-US" sz="2000" dirty="0"/>
              <a:t> is a fundamental technique of machine vision based on the analysis of consistent image regions.</a:t>
            </a:r>
          </a:p>
          <a:p>
            <a:r>
              <a:rPr lang="en-US" sz="2000" dirty="0"/>
              <a:t> As such it is a tool of choice for applications in which the objects being inspected are clearly discernible from the background. </a:t>
            </a:r>
          </a:p>
          <a:p>
            <a:r>
              <a:rPr lang="en-US" sz="2000" dirty="0"/>
              <a:t>With a diverse set of Blob Analysis methods, we can come up with tailored solutions for a wide range of visual inspection problems.</a:t>
            </a:r>
          </a:p>
          <a:p>
            <a:endParaRPr lang="en-IN" dirty="0"/>
          </a:p>
        </p:txBody>
      </p:sp>
    </p:spTree>
    <p:extLst>
      <p:ext uri="{BB962C8B-B14F-4D97-AF65-F5344CB8AC3E}">
        <p14:creationId xmlns:p14="http://schemas.microsoft.com/office/powerpoint/2010/main" val="1735470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42E474-3047-16A8-68FB-BD3CDFC9A60B}"/>
              </a:ext>
            </a:extLst>
          </p:cNvPr>
          <p:cNvSpPr txBox="1"/>
          <p:nvPr/>
        </p:nvSpPr>
        <p:spPr>
          <a:xfrm>
            <a:off x="1346447" y="1166843"/>
            <a:ext cx="9499107" cy="4524315"/>
          </a:xfrm>
          <a:prstGeom prst="rect">
            <a:avLst/>
          </a:prstGeom>
          <a:solidFill>
            <a:schemeClr val="bg1"/>
          </a:solidFill>
          <a:ln>
            <a:noFill/>
          </a:ln>
        </p:spPr>
        <p:txBody>
          <a:bodyPr wrap="square" rtlCol="0">
            <a:spAutoFit/>
          </a:bodyPr>
          <a:lstStyle/>
          <a:p>
            <a:endParaRPr lang="en-US" sz="1800" b="0" i="0" u="none" strike="noStrike" baseline="0" dirty="0">
              <a:solidFill>
                <a:srgbClr val="228B22"/>
              </a:solidFill>
              <a:latin typeface="Courier New" panose="02070309020205020404" pitchFamily="49" charset="0"/>
            </a:endParaRPr>
          </a:p>
          <a:p>
            <a:r>
              <a:rPr lang="en-US" sz="1800" b="0" i="0" u="none" strike="noStrike" baseline="0" dirty="0">
                <a:solidFill>
                  <a:srgbClr val="228B22"/>
                </a:solidFill>
                <a:latin typeface="Courier New" panose="02070309020205020404" pitchFamily="49" charset="0"/>
              </a:rPr>
              <a:t>% Perform blob analysis to get the properties of the mangoes</a:t>
            </a:r>
          </a:p>
          <a:p>
            <a:r>
              <a:rPr lang="en-IN" sz="1800" b="0" i="0" u="none" strike="noStrike" baseline="0" dirty="0">
                <a:solidFill>
                  <a:srgbClr val="000000"/>
                </a:solidFill>
                <a:latin typeface="Courier New" panose="02070309020205020404" pitchFamily="49" charset="0"/>
              </a:rPr>
              <a:t>blobAnalysis = regionprops(binaryImg, </a:t>
            </a:r>
            <a:r>
              <a:rPr lang="en-IN" sz="1800" b="0" i="0" u="none" strike="noStrike" baseline="0" dirty="0">
                <a:solidFill>
                  <a:srgbClr val="A020F0"/>
                </a:solidFill>
                <a:latin typeface="Courier New" panose="02070309020205020404" pitchFamily="49" charset="0"/>
              </a:rPr>
              <a:t>'Area'</a:t>
            </a:r>
            <a:r>
              <a:rPr lang="en-IN" sz="1800" b="0" i="0" u="none" strike="noStrike" baseline="0" dirty="0">
                <a:solidFill>
                  <a:srgbClr val="000000"/>
                </a:solidFill>
                <a:latin typeface="Courier New" panose="02070309020205020404" pitchFamily="49" charset="0"/>
              </a:rPr>
              <a:t>, </a:t>
            </a:r>
            <a:r>
              <a:rPr lang="en-IN" sz="1800" b="0" i="0" u="none" strike="noStrike" baseline="0" dirty="0">
                <a:solidFill>
                  <a:srgbClr val="A020F0"/>
                </a:solidFill>
                <a:latin typeface="Courier New" panose="02070309020205020404" pitchFamily="49" charset="0"/>
              </a:rPr>
              <a:t>'</a:t>
            </a:r>
            <a:r>
              <a:rPr lang="en-IN" sz="1800" b="0" i="0" u="none" strike="noStrike" baseline="0" dirty="0" err="1">
                <a:solidFill>
                  <a:srgbClr val="A020F0"/>
                </a:solidFill>
                <a:latin typeface="Courier New" panose="02070309020205020404" pitchFamily="49" charset="0"/>
              </a:rPr>
              <a:t>BoundingBox</a:t>
            </a:r>
            <a:r>
              <a:rPr lang="en-IN" sz="1800" b="0" i="0" u="none" strike="noStrike" baseline="0" dirty="0">
                <a:solidFill>
                  <a:srgbClr val="A020F0"/>
                </a:solidFill>
                <a:latin typeface="Courier New" panose="02070309020205020404" pitchFamily="49" charset="0"/>
              </a:rPr>
              <a:t>'</a:t>
            </a:r>
            <a:r>
              <a:rPr lang="en-IN" sz="1800" b="0" i="0" u="none" strike="noStrike" baseline="0" dirty="0">
                <a:solidFill>
                  <a:srgbClr val="000000"/>
                </a:solidFill>
                <a:latin typeface="Courier New" panose="02070309020205020404" pitchFamily="49" charset="0"/>
              </a:rPr>
              <a:t>, </a:t>
            </a:r>
            <a:r>
              <a:rPr lang="en-IN" sz="1800" b="0" i="0" u="none" strike="noStrike" baseline="0" dirty="0">
                <a:solidFill>
                  <a:srgbClr val="A020F0"/>
                </a:solidFill>
                <a:latin typeface="Courier New" panose="02070309020205020404" pitchFamily="49" charset="0"/>
              </a:rPr>
              <a:t>'Centroid'</a:t>
            </a:r>
            <a:r>
              <a:rPr lang="en-IN" sz="1800" b="0" i="0" u="none" strike="noStrike" baseline="0" dirty="0">
                <a:solidFill>
                  <a:srgbClr val="000000"/>
                </a:solidFill>
                <a:latin typeface="Courier New" panose="02070309020205020404" pitchFamily="49" charset="0"/>
              </a:rPr>
              <a:t>);</a:t>
            </a:r>
          </a:p>
          <a:p>
            <a:r>
              <a:rPr lang="en-IN" sz="1800" b="0" i="0" u="none" strike="noStrike" baseline="0" dirty="0">
                <a:solidFill>
                  <a:srgbClr val="000000"/>
                </a:solidFill>
                <a:latin typeface="Courier New" panose="02070309020205020404" pitchFamily="49" charset="0"/>
              </a:rPr>
              <a:t>numMangoes = length(blobAnalysis);</a:t>
            </a:r>
          </a:p>
          <a:p>
            <a:r>
              <a:rPr lang="en-IN" sz="1800" b="0" i="0" u="none" strike="noStrike" baseline="0" dirty="0">
                <a:solidFill>
                  <a:srgbClr val="000000"/>
                </a:solidFill>
                <a:latin typeface="Courier New" panose="02070309020205020404" pitchFamily="49" charset="0"/>
              </a:rPr>
              <a:t> </a:t>
            </a:r>
          </a:p>
          <a:p>
            <a:r>
              <a:rPr lang="en-US" sz="1800" b="0" i="0" u="none" strike="noStrike" baseline="0" dirty="0">
                <a:solidFill>
                  <a:srgbClr val="228B22"/>
                </a:solidFill>
                <a:latin typeface="Courier New" panose="02070309020205020404" pitchFamily="49" charset="0"/>
              </a:rPr>
              <a:t>% Draw bounding boxes around the mangoes</a:t>
            </a:r>
          </a:p>
          <a:p>
            <a:r>
              <a:rPr lang="en-IN" sz="1800" b="0" i="0" u="none" strike="noStrike" baseline="0" dirty="0">
                <a:solidFill>
                  <a:srgbClr val="000000"/>
                </a:solidFill>
                <a:latin typeface="Courier New" panose="02070309020205020404" pitchFamily="49" charset="0"/>
              </a:rPr>
              <a:t>figure;</a:t>
            </a:r>
          </a:p>
          <a:p>
            <a:r>
              <a:rPr lang="en-IN" sz="1800" b="0" i="0" u="none" strike="noStrike" baseline="0" dirty="0">
                <a:solidFill>
                  <a:srgbClr val="000000"/>
                </a:solidFill>
                <a:latin typeface="Courier New" panose="02070309020205020404" pitchFamily="49" charset="0"/>
              </a:rPr>
              <a:t>imshow(Img);</a:t>
            </a:r>
          </a:p>
          <a:p>
            <a:r>
              <a:rPr lang="en-IN" sz="1800" b="0" i="0" u="none" strike="noStrike" baseline="0" dirty="0">
                <a:solidFill>
                  <a:srgbClr val="000000"/>
                </a:solidFill>
                <a:latin typeface="Courier New" panose="02070309020205020404" pitchFamily="49" charset="0"/>
              </a:rPr>
              <a:t>hold </a:t>
            </a:r>
            <a:r>
              <a:rPr lang="en-IN" sz="1800" b="0" i="0" u="none" strike="noStrike" baseline="0" dirty="0">
                <a:solidFill>
                  <a:srgbClr val="A020F0"/>
                </a:solidFill>
                <a:latin typeface="Courier New" panose="02070309020205020404" pitchFamily="49" charset="0"/>
              </a:rPr>
              <a:t>on</a:t>
            </a:r>
            <a:r>
              <a:rPr lang="en-IN" sz="1800" b="0" i="0" u="none" strike="noStrike" baseline="0" dirty="0">
                <a:solidFill>
                  <a:srgbClr val="000000"/>
                </a:solidFill>
                <a:latin typeface="Courier New" panose="02070309020205020404" pitchFamily="49" charset="0"/>
              </a:rPr>
              <a:t>;</a:t>
            </a:r>
          </a:p>
          <a:p>
            <a:r>
              <a:rPr lang="en-IN" sz="1800" b="0" i="0" u="none" strike="noStrike" baseline="0" dirty="0">
                <a:solidFill>
                  <a:srgbClr val="0000FF"/>
                </a:solidFill>
                <a:latin typeface="Courier New" panose="02070309020205020404" pitchFamily="49" charset="0"/>
              </a:rPr>
              <a:t>for</a:t>
            </a:r>
            <a:r>
              <a:rPr lang="en-IN" sz="1800" b="0" i="0" u="none" strike="noStrike" baseline="0" dirty="0">
                <a:solidFill>
                  <a:srgbClr val="000000"/>
                </a:solidFill>
                <a:latin typeface="Courier New" panose="02070309020205020404" pitchFamily="49" charset="0"/>
              </a:rPr>
              <a:t> i = 1:numMangoes</a:t>
            </a:r>
          </a:p>
          <a:p>
            <a:r>
              <a:rPr lang="en-IN" sz="1800" b="0" i="0" u="none" strike="noStrike" baseline="0" dirty="0">
                <a:solidFill>
                  <a:srgbClr val="000000"/>
                </a:solidFill>
                <a:latin typeface="Courier New" panose="02070309020205020404" pitchFamily="49" charset="0"/>
              </a:rPr>
              <a:t>    rectangle(</a:t>
            </a:r>
            <a:r>
              <a:rPr lang="en-IN" sz="1800" b="0" i="0" u="none" strike="noStrike" baseline="0" dirty="0">
                <a:solidFill>
                  <a:srgbClr val="A020F0"/>
                </a:solidFill>
                <a:latin typeface="Courier New" panose="02070309020205020404" pitchFamily="49" charset="0"/>
              </a:rPr>
              <a:t>'Position'</a:t>
            </a:r>
            <a:r>
              <a:rPr lang="en-IN" sz="1800" b="0" i="0" u="none" strike="noStrike" baseline="0" dirty="0">
                <a:solidFill>
                  <a:srgbClr val="000000"/>
                </a:solidFill>
                <a:latin typeface="Courier New" panose="02070309020205020404" pitchFamily="49" charset="0"/>
              </a:rPr>
              <a:t>, blobAnalysis(i).BoundingBox, </a:t>
            </a:r>
            <a:r>
              <a:rPr lang="en-IN" sz="1800" b="0" i="0" u="none" strike="noStrike" baseline="0" dirty="0">
                <a:solidFill>
                  <a:srgbClr val="A020F0"/>
                </a:solidFill>
                <a:latin typeface="Courier New" panose="02070309020205020404" pitchFamily="49" charset="0"/>
              </a:rPr>
              <a:t>'</a:t>
            </a:r>
            <a:r>
              <a:rPr lang="en-IN" sz="1800" b="0" i="0" u="none" strike="noStrike" baseline="0" dirty="0" err="1">
                <a:solidFill>
                  <a:srgbClr val="A020F0"/>
                </a:solidFill>
                <a:latin typeface="Courier New" panose="02070309020205020404" pitchFamily="49" charset="0"/>
              </a:rPr>
              <a:t>EdgeColor</a:t>
            </a:r>
            <a:r>
              <a:rPr lang="en-IN" sz="1800" b="0" i="0" u="none" strike="noStrike" baseline="0" dirty="0">
                <a:solidFill>
                  <a:srgbClr val="A020F0"/>
                </a:solidFill>
                <a:latin typeface="Courier New" panose="02070309020205020404" pitchFamily="49" charset="0"/>
              </a:rPr>
              <a:t>'</a:t>
            </a:r>
            <a:r>
              <a:rPr lang="en-IN" sz="1800" b="0" i="0" u="none" strike="noStrike" baseline="0" dirty="0">
                <a:solidFill>
                  <a:srgbClr val="000000"/>
                </a:solidFill>
                <a:latin typeface="Courier New" panose="02070309020205020404" pitchFamily="49" charset="0"/>
              </a:rPr>
              <a:t>, </a:t>
            </a:r>
            <a:r>
              <a:rPr lang="en-IN" sz="1800" b="0" i="0" u="none" strike="noStrike" baseline="0" dirty="0">
                <a:solidFill>
                  <a:srgbClr val="A020F0"/>
                </a:solidFill>
                <a:latin typeface="Courier New" panose="02070309020205020404" pitchFamily="49" charset="0"/>
              </a:rPr>
              <a:t>'r'</a:t>
            </a:r>
            <a:r>
              <a:rPr lang="en-IN" sz="1800" b="0" i="0" u="none" strike="noStrike" baseline="0" dirty="0">
                <a:solidFill>
                  <a:srgbClr val="000000"/>
                </a:solidFill>
                <a:latin typeface="Courier New" panose="02070309020205020404" pitchFamily="49" charset="0"/>
              </a:rPr>
              <a:t>, </a:t>
            </a:r>
            <a:r>
              <a:rPr lang="en-IN" sz="1800" b="0" i="0" u="none" strike="noStrike" baseline="0" dirty="0">
                <a:solidFill>
                  <a:srgbClr val="A020F0"/>
                </a:solidFill>
                <a:latin typeface="Courier New" panose="02070309020205020404" pitchFamily="49" charset="0"/>
              </a:rPr>
              <a:t>'</a:t>
            </a:r>
            <a:r>
              <a:rPr lang="en-IN" sz="1800" b="0" i="0" u="none" strike="noStrike" baseline="0" dirty="0" err="1">
                <a:solidFill>
                  <a:srgbClr val="A020F0"/>
                </a:solidFill>
                <a:latin typeface="Courier New" panose="02070309020205020404" pitchFamily="49" charset="0"/>
              </a:rPr>
              <a:t>LineWidth</a:t>
            </a:r>
            <a:r>
              <a:rPr lang="en-IN" sz="1800" b="0" i="0" u="none" strike="noStrike" baseline="0" dirty="0">
                <a:solidFill>
                  <a:srgbClr val="A020F0"/>
                </a:solidFill>
                <a:latin typeface="Courier New" panose="02070309020205020404" pitchFamily="49" charset="0"/>
              </a:rPr>
              <a:t>'</a:t>
            </a:r>
            <a:r>
              <a:rPr lang="en-IN" sz="1800" b="0" i="0" u="none" strike="noStrike" baseline="0" dirty="0">
                <a:solidFill>
                  <a:srgbClr val="000000"/>
                </a:solidFill>
                <a:latin typeface="Courier New" panose="02070309020205020404" pitchFamily="49" charset="0"/>
              </a:rPr>
              <a:t>, 2);</a:t>
            </a:r>
          </a:p>
          <a:p>
            <a:r>
              <a:rPr lang="en-IN" sz="1800" b="0" i="0" u="none" strike="noStrike" baseline="0" dirty="0">
                <a:solidFill>
                  <a:srgbClr val="0000FF"/>
                </a:solidFill>
                <a:latin typeface="Courier New" panose="02070309020205020404" pitchFamily="49" charset="0"/>
              </a:rPr>
              <a:t>end</a:t>
            </a:r>
          </a:p>
          <a:p>
            <a:r>
              <a:rPr lang="en-IN" sz="1800" b="0" i="0" u="none" strike="noStrike" baseline="0" dirty="0">
                <a:solidFill>
                  <a:srgbClr val="000000"/>
                </a:solidFill>
                <a:latin typeface="Courier New" panose="02070309020205020404" pitchFamily="49" charset="0"/>
              </a:rPr>
              <a:t>title(sprintf(</a:t>
            </a:r>
            <a:r>
              <a:rPr lang="en-IN" sz="1800" b="0" i="0" u="none" strike="noStrike" baseline="0" dirty="0">
                <a:solidFill>
                  <a:srgbClr val="A020F0"/>
                </a:solidFill>
                <a:latin typeface="Courier New" panose="02070309020205020404" pitchFamily="49" charset="0"/>
              </a:rPr>
              <a:t>'%d mango(es) detected'</a:t>
            </a:r>
            <a:r>
              <a:rPr lang="en-IN" sz="1800" b="0" i="0" u="none" strike="noStrike" baseline="0" dirty="0">
                <a:solidFill>
                  <a:srgbClr val="000000"/>
                </a:solidFill>
                <a:latin typeface="Courier New" panose="02070309020205020404" pitchFamily="49" charset="0"/>
              </a:rPr>
              <a:t>,numMangoes));</a:t>
            </a:r>
            <a:endParaRPr lang="en-IN" dirty="0">
              <a:solidFill>
                <a:srgbClr val="000000"/>
              </a:solidFill>
              <a:latin typeface="Courier New" panose="02070309020205020404" pitchFamily="49" charset="0"/>
            </a:endParaRPr>
          </a:p>
          <a:p>
            <a:endParaRPr lang="en-IN" sz="1800" b="0" i="0" u="none" strike="noStrike" baseline="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864057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A87EFF-67B9-FAAC-E103-0636C3B62792}"/>
              </a:ext>
            </a:extLst>
          </p:cNvPr>
          <p:cNvPicPr>
            <a:picLocks noChangeAspect="1"/>
          </p:cNvPicPr>
          <p:nvPr/>
        </p:nvPicPr>
        <p:blipFill>
          <a:blip r:embed="rId2"/>
          <a:stretch>
            <a:fillRect/>
          </a:stretch>
        </p:blipFill>
        <p:spPr>
          <a:xfrm>
            <a:off x="2796586" y="189000"/>
            <a:ext cx="6598828" cy="6480000"/>
          </a:xfrm>
          <a:prstGeom prst="rect">
            <a:avLst/>
          </a:prstGeom>
        </p:spPr>
      </p:pic>
    </p:spTree>
    <p:extLst>
      <p:ext uri="{BB962C8B-B14F-4D97-AF65-F5344CB8AC3E}">
        <p14:creationId xmlns:p14="http://schemas.microsoft.com/office/powerpoint/2010/main" val="1178944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a:blip r:embed="rId2">
            <a:alphaModFix amt="90000"/>
          </a:blip>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A85F12-B797-7F91-E51C-32F8D9C06B60}"/>
              </a:ext>
            </a:extLst>
          </p:cNvPr>
          <p:cNvSpPr txBox="1"/>
          <p:nvPr/>
        </p:nvSpPr>
        <p:spPr>
          <a:xfrm flipH="1">
            <a:off x="2581587" y="1679790"/>
            <a:ext cx="8148370" cy="4154984"/>
          </a:xfrm>
          <a:prstGeom prst="rect">
            <a:avLst/>
          </a:prstGeom>
          <a:noFill/>
        </p:spPr>
        <p:txBody>
          <a:bodyPr wrap="square" rtlCol="0">
            <a:spAutoFit/>
          </a:bodyPr>
          <a:lstStyle/>
          <a:p>
            <a:r>
              <a:rPr lang="en-US" sz="2400" b="1" u="sng" dirty="0">
                <a:ln w="0"/>
                <a:effectLst>
                  <a:outerShdw blurRad="38100" dist="19050" dir="2700000" algn="tl" rotWithShape="0">
                    <a:schemeClr val="dk1">
                      <a:alpha val="40000"/>
                    </a:schemeClr>
                  </a:outerShdw>
                </a:effectLst>
              </a:rPr>
              <a:t>SUBMITTED TO:</a:t>
            </a:r>
          </a:p>
          <a:p>
            <a:endParaRPr lang="en-US" sz="2400" b="1" dirty="0">
              <a:ln w="0"/>
              <a:effectLst>
                <a:outerShdw blurRad="38100" dist="19050" dir="2700000" algn="tl" rotWithShape="0">
                  <a:schemeClr val="dk1">
                    <a:alpha val="40000"/>
                  </a:schemeClr>
                </a:outerShdw>
              </a:effectLst>
            </a:endParaRPr>
          </a:p>
          <a:p>
            <a:r>
              <a:rPr lang="en-US" sz="2400" b="1" dirty="0">
                <a:ln w="0"/>
                <a:effectLst>
                  <a:outerShdw blurRad="38100" dist="19050" dir="2700000" algn="tl" rotWithShape="0">
                    <a:schemeClr val="dk1">
                      <a:alpha val="40000"/>
                    </a:schemeClr>
                  </a:outerShdw>
                </a:effectLst>
              </a:rPr>
              <a:t>		</a:t>
            </a:r>
            <a:r>
              <a:rPr lang="en-US" sz="2400" dirty="0">
                <a:ln w="0"/>
                <a:effectLst>
                  <a:outerShdw blurRad="38100" dist="19050" dir="2700000" algn="tl" rotWithShape="0">
                    <a:schemeClr val="dk1">
                      <a:alpha val="40000"/>
                    </a:schemeClr>
                  </a:outerShdw>
                </a:effectLst>
              </a:rPr>
              <a:t>DR. BAMBAM KUMAR</a:t>
            </a:r>
          </a:p>
          <a:p>
            <a:r>
              <a:rPr lang="en-US" sz="2400" dirty="0">
                <a:ln w="0"/>
                <a:effectLst>
                  <a:outerShdw blurRad="38100" dist="19050" dir="2700000" algn="tl" rotWithShape="0">
                    <a:schemeClr val="dk1">
                      <a:alpha val="40000"/>
                    </a:schemeClr>
                  </a:outerShdw>
                </a:effectLst>
              </a:rPr>
              <a:t>		ASST. PROFESSOR</a:t>
            </a:r>
          </a:p>
          <a:p>
            <a:r>
              <a:rPr lang="en-US" sz="2400" dirty="0">
                <a:ln w="0"/>
                <a:effectLst>
                  <a:outerShdw blurRad="38100" dist="19050" dir="2700000" algn="tl" rotWithShape="0">
                    <a:schemeClr val="dk1">
                      <a:alpha val="40000"/>
                    </a:schemeClr>
                  </a:outerShdw>
                </a:effectLst>
              </a:rPr>
              <a:t>		NIT PATNA</a:t>
            </a:r>
          </a:p>
          <a:p>
            <a:endParaRPr lang="en-US" sz="2400" b="1" dirty="0">
              <a:ln w="0"/>
              <a:effectLst>
                <a:outerShdw blurRad="38100" dist="19050" dir="2700000" algn="tl" rotWithShape="0">
                  <a:schemeClr val="dk1">
                    <a:alpha val="40000"/>
                  </a:schemeClr>
                </a:outerShdw>
              </a:effectLst>
            </a:endParaRPr>
          </a:p>
          <a:p>
            <a:r>
              <a:rPr lang="en-US" sz="2400" b="1" u="sng" dirty="0">
                <a:ln w="0"/>
                <a:effectLst>
                  <a:outerShdw blurRad="38100" dist="19050" dir="2700000" algn="tl" rotWithShape="0">
                    <a:schemeClr val="dk1">
                      <a:alpha val="40000"/>
                    </a:schemeClr>
                  </a:outerShdw>
                </a:effectLst>
              </a:rPr>
              <a:t>SUBMITTED BY:</a:t>
            </a:r>
          </a:p>
          <a:p>
            <a:endParaRPr lang="en-US" sz="2400" b="1" dirty="0">
              <a:ln w="0"/>
              <a:effectLst>
                <a:outerShdw blurRad="38100" dist="19050" dir="2700000" algn="tl" rotWithShape="0">
                  <a:schemeClr val="dk1">
                    <a:alpha val="40000"/>
                  </a:schemeClr>
                </a:outerShdw>
              </a:effectLst>
            </a:endParaRPr>
          </a:p>
          <a:p>
            <a:r>
              <a:rPr lang="en-US" sz="2400" b="1" dirty="0">
                <a:ln w="0"/>
                <a:effectLst>
                  <a:outerShdw blurRad="38100" dist="19050" dir="2700000" algn="tl" rotWithShape="0">
                    <a:schemeClr val="dk1">
                      <a:alpha val="40000"/>
                    </a:schemeClr>
                  </a:outerShdw>
                </a:effectLst>
              </a:rPr>
              <a:t>		</a:t>
            </a:r>
            <a:r>
              <a:rPr lang="en-US" sz="2400" dirty="0">
                <a:ln w="0"/>
                <a:effectLst>
                  <a:outerShdw blurRad="38100" dist="19050" dir="2700000" algn="tl" rotWithShape="0">
                    <a:schemeClr val="dk1">
                      <a:alpha val="40000"/>
                    </a:schemeClr>
                  </a:outerShdw>
                </a:effectLst>
              </a:rPr>
              <a:t>PULKIT GAUTAM                2004006</a:t>
            </a:r>
          </a:p>
          <a:p>
            <a:r>
              <a:rPr lang="en-US" sz="2400" dirty="0">
                <a:ln w="0"/>
                <a:effectLst>
                  <a:outerShdw blurRad="38100" dist="19050" dir="2700000" algn="tl" rotWithShape="0">
                    <a:schemeClr val="dk1">
                      <a:alpha val="40000"/>
                    </a:schemeClr>
                  </a:outerShdw>
                </a:effectLst>
              </a:rPr>
              <a:t>		SHIVANSHU TRIPATHI		2004034</a:t>
            </a:r>
          </a:p>
          <a:p>
            <a:r>
              <a:rPr lang="en-US" sz="2400" dirty="0">
                <a:ln w="0"/>
                <a:effectLst>
                  <a:outerShdw blurRad="38100" dist="19050" dir="2700000" algn="tl" rotWithShape="0">
                    <a:schemeClr val="dk1">
                      <a:alpha val="40000"/>
                    </a:schemeClr>
                  </a:outerShdw>
                </a:effectLst>
              </a:rPr>
              <a:t>		ATUL KUMAR			     2004038</a:t>
            </a:r>
            <a:endParaRPr lang="en-IN" sz="2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9161123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1362</TotalTime>
  <Words>1157</Words>
  <Application>Microsoft Office PowerPoint</Application>
  <PresentationFormat>Widescreen</PresentationFormat>
  <Paragraphs>123</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Century Gothic</vt:lpstr>
      <vt:lpstr>Courier New</vt:lpstr>
      <vt:lpstr>Wingdings 3</vt:lpstr>
      <vt:lpstr>Wisp</vt:lpstr>
      <vt:lpstr>PowerPoint Presentation</vt:lpstr>
      <vt:lpstr>Objection Detection </vt:lpstr>
      <vt:lpstr>PowerPoint Presentation</vt:lpstr>
      <vt:lpstr>Objectives </vt:lpstr>
      <vt:lpstr>Challenges </vt:lpstr>
      <vt:lpstr>Methodology </vt:lpstr>
      <vt:lpstr>PowerPoint Presentation</vt:lpstr>
      <vt:lpstr>STEP 1: Image Preprocessing </vt:lpstr>
      <vt:lpstr>PowerPoint Presentation</vt:lpstr>
      <vt:lpstr>STEP 2: Color Processing </vt:lpstr>
      <vt:lpstr>PowerPoint Presentation</vt:lpstr>
      <vt:lpstr>PowerPoint Presentation</vt:lpstr>
      <vt:lpstr>STEP 3: Gray-Scaling, Filtering &amp; Enhancing </vt:lpstr>
      <vt:lpstr>PowerPoint Presentation</vt:lpstr>
      <vt:lpstr>PowerPoint Presentation</vt:lpstr>
      <vt:lpstr>PowerPoint Presentation</vt:lpstr>
      <vt:lpstr>STEP 4: Blob Analysis &amp; Counting Objects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PULKIT GAUTAM</dc:creator>
  <cp:lastModifiedBy>PULKIT GAUTAM</cp:lastModifiedBy>
  <cp:revision>12</cp:revision>
  <dcterms:created xsi:type="dcterms:W3CDTF">2023-04-08T18:22:18Z</dcterms:created>
  <dcterms:modified xsi:type="dcterms:W3CDTF">2023-04-10T18:52:26Z</dcterms:modified>
</cp:coreProperties>
</file>